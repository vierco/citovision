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820cf21b674bd9" /><Relationship Type="http://schemas.openxmlformats.org/officeDocument/2006/relationships/extended-properties" Target="/docProps/app.xml" Id="Rcb81d4313ab34a80" /><Relationship Type="http://schemas.openxmlformats.org/officeDocument/2006/relationships/officeDocument" Target="/ppt/presentation.xml" Id="R1568eb46a53848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7208077bfb4271"/>
  </p:sldMasterIdLst>
  <p:notesMasterIdLst>
    <p:notesMasterId xmlns:r="http://schemas.openxmlformats.org/officeDocument/2006/relationships" r:id="R0f727ff490b24293"/>
  </p:notesMasterIdLst>
  <p:sldIdLst>
    <p:sldId xmlns:r="http://schemas.openxmlformats.org/officeDocument/2006/relationships" id="256" r:id="R820fa6ebfcd44029"/>
    <p:sldId xmlns:r="http://schemas.openxmlformats.org/officeDocument/2006/relationships" id="257" r:id="Rabea4fe6a4284094"/>
    <p:sldId xmlns:r="http://schemas.openxmlformats.org/officeDocument/2006/relationships" id="258" r:id="Rdd0adf290629439c"/>
    <p:sldId xmlns:r="http://schemas.openxmlformats.org/officeDocument/2006/relationships" id="259" r:id="R47d02abcbcd4450c"/>
    <p:sldId xmlns:r="http://schemas.openxmlformats.org/officeDocument/2006/relationships" id="260" r:id="R759bf38363cd456d"/>
    <p:sldId xmlns:r="http://schemas.openxmlformats.org/officeDocument/2006/relationships" id="261" r:id="R096e293f34924543"/>
    <p:sldId xmlns:r="http://schemas.openxmlformats.org/officeDocument/2006/relationships" id="262" r:id="R6e4e7294f9504dc7"/>
    <p:sldId xmlns:r="http://schemas.openxmlformats.org/officeDocument/2006/relationships" id="263" r:id="R45b6f07cab0d41a0"/>
    <p:sldId xmlns:r="http://schemas.openxmlformats.org/officeDocument/2006/relationships" id="264" r:id="Rbd2477e1463a4f35"/>
    <p:sldId xmlns:r="http://schemas.openxmlformats.org/officeDocument/2006/relationships" id="265" r:id="R9a2727a662cb4d76"/>
    <p:sldId xmlns:r="http://schemas.openxmlformats.org/officeDocument/2006/relationships" id="266" r:id="R9062992b9d6948a0"/>
    <p:sldId xmlns:r="http://schemas.openxmlformats.org/officeDocument/2006/relationships" id="267" r:id="R10d5df16925a4ebb"/>
    <p:sldId xmlns:r="http://schemas.openxmlformats.org/officeDocument/2006/relationships" id="268" r:id="Rf7e9e8d69f0f4000"/>
    <p:sldId xmlns:r="http://schemas.openxmlformats.org/officeDocument/2006/relationships" id="269" r:id="R8fdd5359da9f46de"/>
    <p:sldId xmlns:r="http://schemas.openxmlformats.org/officeDocument/2006/relationships" id="270" r:id="Rf592136e7bfa422a"/>
    <p:sldId xmlns:r="http://schemas.openxmlformats.org/officeDocument/2006/relationships" id="271" r:id="R06e952df9f9441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d0af63f1e84185" /><Relationship Type="http://schemas.openxmlformats.org/officeDocument/2006/relationships/slideMaster" Target="/ppt/slideMasters/slideMaster1.xml" Id="R067208077bfb4271" /><Relationship Type="http://schemas.openxmlformats.org/officeDocument/2006/relationships/notesMaster" Target="/ppt/notesMasters/notesMaster1.xml" Id="R0f727ff490b24293" /><Relationship Type="http://schemas.openxmlformats.org/officeDocument/2006/relationships/presProps" Target="/ppt/presProps.xml" Id="R8a564ab8f8c7499c" /><Relationship Type="http://schemas.openxmlformats.org/officeDocument/2006/relationships/tableStyles" Target="/ppt/tableStyles.xml" Id="Rb28534de7f0d4dd6" /><Relationship Type="http://schemas.openxmlformats.org/officeDocument/2006/relationships/slide" Target="/ppt/slides/slide1.xml" Id="R820fa6ebfcd44029" /><Relationship Type="http://schemas.openxmlformats.org/officeDocument/2006/relationships/slide" Target="/ppt/slides/slide2.xml" Id="Rabea4fe6a4284094" /><Relationship Type="http://schemas.openxmlformats.org/officeDocument/2006/relationships/slide" Target="/ppt/slides/slide3.xml" Id="Rdd0adf290629439c" /><Relationship Type="http://schemas.openxmlformats.org/officeDocument/2006/relationships/slide" Target="/ppt/slides/slide4.xml" Id="R47d02abcbcd4450c" /><Relationship Type="http://schemas.openxmlformats.org/officeDocument/2006/relationships/slide" Target="/ppt/slides/slide5.xml" Id="R759bf38363cd456d" /><Relationship Type="http://schemas.openxmlformats.org/officeDocument/2006/relationships/slide" Target="/ppt/slides/slide6.xml" Id="R096e293f34924543" /><Relationship Type="http://schemas.openxmlformats.org/officeDocument/2006/relationships/slide" Target="/ppt/slides/slide7.xml" Id="R6e4e7294f9504dc7" /><Relationship Type="http://schemas.openxmlformats.org/officeDocument/2006/relationships/slide" Target="/ppt/slides/slide8.xml" Id="R45b6f07cab0d41a0" /><Relationship Type="http://schemas.openxmlformats.org/officeDocument/2006/relationships/slide" Target="/ppt/slides/slide9.xml" Id="Rbd2477e1463a4f35" /><Relationship Type="http://schemas.openxmlformats.org/officeDocument/2006/relationships/slide" Target="/ppt/slides/slide10.xml" Id="R9a2727a662cb4d76" /><Relationship Type="http://schemas.openxmlformats.org/officeDocument/2006/relationships/slide" Target="/ppt/slides/slide11.xml" Id="R9062992b9d6948a0" /><Relationship Type="http://schemas.openxmlformats.org/officeDocument/2006/relationships/slide" Target="/ppt/slides/slide12.xml" Id="R10d5df16925a4ebb" /><Relationship Type="http://schemas.openxmlformats.org/officeDocument/2006/relationships/slide" Target="/ppt/slides/slide13.xml" Id="Rf7e9e8d69f0f4000" /><Relationship Type="http://schemas.openxmlformats.org/officeDocument/2006/relationships/slide" Target="/ppt/slides/slide14.xml" Id="R8fdd5359da9f46de" /><Relationship Type="http://schemas.openxmlformats.org/officeDocument/2006/relationships/slide" Target="/ppt/slides/slide15.xml" Id="Rf592136e7bfa422a" /><Relationship Type="http://schemas.openxmlformats.org/officeDocument/2006/relationships/slide" Target="/ppt/slides/slide16.xml" Id="R06e952df9f9441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2a37f28e7847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2e12a8f9e34932" /><Relationship Type="http://schemas.openxmlformats.org/officeDocument/2006/relationships/notesMaster" Target="/ppt/notesMasters/notesMaster1.xml" Id="R07df1befcba64b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43bb512bf8471c" /><Relationship Type="http://schemas.openxmlformats.org/officeDocument/2006/relationships/notesMaster" Target="/ppt/notesMasters/notesMaster1.xml" Id="Rc966c5cd0dd847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4f0f3742094d49" /><Relationship Type="http://schemas.openxmlformats.org/officeDocument/2006/relationships/notesMaster" Target="/ppt/notesMasters/notesMaster1.xml" Id="Raf107032171c4b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10f02378fc4d8f" /><Relationship Type="http://schemas.openxmlformats.org/officeDocument/2006/relationships/notesMaster" Target="/ppt/notesMasters/notesMaster1.xml" Id="R9b115b43b8d640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20db6c53cb46db" /><Relationship Type="http://schemas.openxmlformats.org/officeDocument/2006/relationships/notesMaster" Target="/ppt/notesMasters/notesMaster1.xml" Id="R0b221666c75e42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bdc9ac61214411" /><Relationship Type="http://schemas.openxmlformats.org/officeDocument/2006/relationships/notesMaster" Target="/ppt/notesMasters/notesMaster1.xml" Id="R4172aaf354e143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84373251704144" /><Relationship Type="http://schemas.openxmlformats.org/officeDocument/2006/relationships/notesMaster" Target="/ppt/notesMasters/notesMaster1.xml" Id="Rdf8ee2bf657c4e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e822c0305b47d7" /><Relationship Type="http://schemas.openxmlformats.org/officeDocument/2006/relationships/notesMaster" Target="/ppt/notesMasters/notesMaster1.xml" Id="Rf20b6b5a09804c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2e8e506b8b4cc6" /><Relationship Type="http://schemas.openxmlformats.org/officeDocument/2006/relationships/notesMaster" Target="/ppt/notesMasters/notesMaster1.xml" Id="R7f2c6bcd9abf42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9c13af76bc46a9" /><Relationship Type="http://schemas.openxmlformats.org/officeDocument/2006/relationships/notesMaster" Target="/ppt/notesMasters/notesMaster1.xml" Id="R2dce964912cc46c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c8d60c86284b4a" /><Relationship Type="http://schemas.openxmlformats.org/officeDocument/2006/relationships/notesMaster" Target="/ppt/notesMasters/notesMaster1.xml" Id="R9f7d38dd0846456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0aa883a9234a9c" /><Relationship Type="http://schemas.openxmlformats.org/officeDocument/2006/relationships/notesMaster" Target="/ppt/notesMasters/notesMaster1.xml" Id="Rddc97dbfffd7435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99992d746604b5b" /><Relationship Type="http://schemas.openxmlformats.org/officeDocument/2006/relationships/notesMaster" Target="/ppt/notesMasters/notesMaster1.xml" Id="Rc04f9060e33c4b8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8810b9452f443c4" /><Relationship Type="http://schemas.openxmlformats.org/officeDocument/2006/relationships/notesMaster" Target="/ppt/notesMasters/notesMaster1.xml" Id="R4c92a88f00b8488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e99d88e2c1a4b2e" /><Relationship Type="http://schemas.openxmlformats.org/officeDocument/2006/relationships/notesMaster" Target="/ppt/notesMasters/notesMaster1.xml" Id="Rfdffad46ed2e481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e329bb66705475d" /><Relationship Type="http://schemas.openxmlformats.org/officeDocument/2006/relationships/notesMaster" Target="/ppt/notesMasters/notesMaster1.xml" Id="R354a72bd817444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Logos citoVision y Lovelaced proporcionados por el autor.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Fotografía del Centro de Investigación Médica Aplicada (CIMA), proporcionada por el autor.</a:t>
            </a:r>
          </a:p>
          <a:p xmlns:a="http://schemas.openxmlformats.org/drawingml/2006/main">
            <a:r>
              <a:t>- Guion del autor; no se cuantifican centros ni entrevistas por falta de datos confirmados.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Síntesis conceptual basada en el guion del autor.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Clases celulares citadas en el guion del autor; la diapositiva evita asociarlas a diagnósticos específicos.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Fotografía CIMA proporcionada por el autor.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Captura de citoVision proporcionada por el autor.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Capturas de citoVision proporcionadas por el autor.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Captura de resultado proporcionada por el autor.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Capturas de historial y pacientes proporcionadas por el autor.</a:t>
            </a:r>
          </a:p>
          <a:p xmlns:a="http://schemas.openxmlformats.org/drawingml/2006/main">
            <a:r>
              <a:t>- Afirmaciones de seguridad procedentes del guion técnico del autor.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Stack tecnológico facilitado por el autor.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Dataset base: UNIVALI Leukocyte Dataset (CC BY 4.0), según el guion aportado.</a:t>
            </a:r>
          </a:p>
          <a:p xmlns:a="http://schemas.openxmlformats.org/drawingml/2006/main">
            <a:r>
              <a:t>- Lista exacta de 14 clases: requiere validación contra la configuración final del modelo; la agrupación visual sintetiza el guion.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Arquitectura modular descrita en el guion del autor.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Isotipo proporcionado por el autor.</a:t>
            </a:r>
          </a:p>
          <a:p xmlns:a="http://schemas.openxmlformats.org/drawingml/2006/main">
            <a:r>
              <a:t>- Módulo descrito como futuro; no se presenta como funcionalidad disponible.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Roadmap facilitado por el autor; no se incluyen fechas no confirmadas.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Plataformas presentes y futuras indicadas por el autor.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Logos citoVision y Lovelaced proporcionados por el autor.</a:t>
            </a:r>
          </a:p>
          <a:p xmlns:a="http://schemas.openxmlformats.org/drawingml/2006/main">
            <a:r>
              <a:t>- Contacto y URL del vídeo facilitados por el autor.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89fa0c907c4d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c1dbdd457c422d" /><Relationship Type="http://schemas.openxmlformats.org/officeDocument/2006/relationships/slideLayout" Target="/ppt/slideLayouts/slideLayout1.xml" Id="Rb36f6635d40c41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6f6635d40c41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9adbcbf064536" /><Relationship Type="http://schemas.openxmlformats.org/officeDocument/2006/relationships/image" Target="/ppt/media/image.png" Id="Re1ebb0321fc34813" /><Relationship Type="http://schemas.openxmlformats.org/officeDocument/2006/relationships/image" Target="/ppt/media/image2.png" Id="R556466195ffe45cc" /><Relationship Type="http://schemas.openxmlformats.org/officeDocument/2006/relationships/image" Target="/ppt/media/image3.png" Id="R8f8827457e054742" /><Relationship Type="http://schemas.openxmlformats.org/officeDocument/2006/relationships/notesSlide" Target="/ppt/notesSlides/notesSlide1.xml" Id="R3ce354f1307942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254de15674981" /><Relationship Type="http://schemas.openxmlformats.org/officeDocument/2006/relationships/image" Target="/ppt/media/image4.png" Id="R028d9c1ae49d48c1" /><Relationship Type="http://schemas.openxmlformats.org/officeDocument/2006/relationships/image" Target="/ppt/media/image5.png" Id="R03f9096c0516475a" /><Relationship Type="http://schemas.openxmlformats.org/officeDocument/2006/relationships/notesSlide" Target="/ppt/notesSlides/notesSlide2.xml" Id="R900a75cf96354b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210560eff4637" /><Relationship Type="http://schemas.openxmlformats.org/officeDocument/2006/relationships/image" Target="/ppt/media/image6.png" Id="R892d662573494855" /><Relationship Type="http://schemas.openxmlformats.org/officeDocument/2006/relationships/notesSlide" Target="/ppt/notesSlides/notesSlide3.xml" Id="Rb3f0cc7014f941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ca760a0f14f49" /><Relationship Type="http://schemas.openxmlformats.org/officeDocument/2006/relationships/image" Target="/ppt/media/image7.png" Id="R6b019226b11b4eb1" /><Relationship Type="http://schemas.openxmlformats.org/officeDocument/2006/relationships/notesSlide" Target="/ppt/notesSlides/notesSlide4.xml" Id="R6b1b24c8f96d4f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1bb967dcda4f38" /><Relationship Type="http://schemas.openxmlformats.org/officeDocument/2006/relationships/image" Target="/ppt/media/image8.png" Id="Rcb15f10debfc4a55" /><Relationship Type="http://schemas.openxmlformats.org/officeDocument/2006/relationships/image" Target="/ppt/media/image9.png" Id="Ra732e3d311524204" /><Relationship Type="http://schemas.openxmlformats.org/officeDocument/2006/relationships/notesSlide" Target="/ppt/notesSlides/notesSlide5.xml" Id="R23452d3262b746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acae4fb724b98" /><Relationship Type="http://schemas.openxmlformats.org/officeDocument/2006/relationships/image" Target="/ppt/media/image10.png" Id="R00b6d3f32ee5434e" /><Relationship Type="http://schemas.openxmlformats.org/officeDocument/2006/relationships/image" Target="/ppt/media/image11.png" Id="Re236610aa76f4409" /><Relationship Type="http://schemas.openxmlformats.org/officeDocument/2006/relationships/notesSlide" Target="/ppt/notesSlides/notesSlide6.xml" Id="R31fd5bfc469e4c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c80f4c62c44b30" /><Relationship Type="http://schemas.openxmlformats.org/officeDocument/2006/relationships/image" Target="/ppt/media/image12.png" Id="R8111720827b04191" /><Relationship Type="http://schemas.openxmlformats.org/officeDocument/2006/relationships/image" Target="/ppt/media/image13.png" Id="R0eb03295a5fb4176" /><Relationship Type="http://schemas.openxmlformats.org/officeDocument/2006/relationships/image" Target="/ppt/media/image14.png" Id="Rc3634f864f444f33" /><Relationship Type="http://schemas.openxmlformats.org/officeDocument/2006/relationships/image" Target="/ppt/media/image15.png" Id="R67aa3caea5f14b83" /><Relationship Type="http://schemas.openxmlformats.org/officeDocument/2006/relationships/notesSlide" Target="/ppt/notesSlides/notesSlide7.xml" Id="R6a82425880aa4a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8940ed6294eb0" /><Relationship Type="http://schemas.openxmlformats.org/officeDocument/2006/relationships/image" Target="/ppt/media/image16.png" Id="Rb06f619ce33a4b6e" /><Relationship Type="http://schemas.openxmlformats.org/officeDocument/2006/relationships/image" Target="/ppt/media/image17.png" Id="R59da2c85374946de" /><Relationship Type="http://schemas.openxmlformats.org/officeDocument/2006/relationships/notesSlide" Target="/ppt/notesSlides/notesSlide8.xml" Id="R3f156ae023a94d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bc6a1fcc0424d" /><Relationship Type="http://schemas.openxmlformats.org/officeDocument/2006/relationships/image" Target="/ppt/media/image18.png" Id="R36b00c6764894d63" /><Relationship Type="http://schemas.openxmlformats.org/officeDocument/2006/relationships/image" Target="/ppt/media/image19.png" Id="Rf1451334e3fc4250" /><Relationship Type="http://schemas.openxmlformats.org/officeDocument/2006/relationships/image" Target="/ppt/media/image20.png" Id="R2526397ab4b24487" /><Relationship Type="http://schemas.openxmlformats.org/officeDocument/2006/relationships/notesSlide" Target="/ppt/notesSlides/notesSlide9.xml" Id="R27dedd28924946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bc325b028491a" /><Relationship Type="http://schemas.openxmlformats.org/officeDocument/2006/relationships/image" Target="/ppt/media/image21.png" Id="R9ac9cba6543d429e" /><Relationship Type="http://schemas.openxmlformats.org/officeDocument/2006/relationships/notesSlide" Target="/ppt/notesSlides/notesSlide10.xml" Id="R86cce5edef89412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e49085b5e42bf" /><Relationship Type="http://schemas.openxmlformats.org/officeDocument/2006/relationships/image" Target="/ppt/media/image22.png" Id="R49dc21a83ef4414e" /><Relationship Type="http://schemas.openxmlformats.org/officeDocument/2006/relationships/notesSlide" Target="/ppt/notesSlides/notesSlide11.xml" Id="Rbc8fc13745c547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8aa90418c4cfc" /><Relationship Type="http://schemas.openxmlformats.org/officeDocument/2006/relationships/image" Target="/ppt/media/image23.png" Id="R77aa473144a441c8" /><Relationship Type="http://schemas.openxmlformats.org/officeDocument/2006/relationships/image" Target="/ppt/media/image24.png" Id="Rd21a335129994f63" /><Relationship Type="http://schemas.openxmlformats.org/officeDocument/2006/relationships/notesSlide" Target="/ppt/notesSlides/notesSlide12.xml" Id="R32ff4a127a784f1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edeb688514973" /><Relationship Type="http://schemas.openxmlformats.org/officeDocument/2006/relationships/image" Target="/ppt/media/image.jpeg" Id="Rbed4eeab7adc4751" /><Relationship Type="http://schemas.openxmlformats.org/officeDocument/2006/relationships/image" Target="/ppt/media/image25.png" Id="R57955c9aaac3418d" /><Relationship Type="http://schemas.openxmlformats.org/officeDocument/2006/relationships/notesSlide" Target="/ppt/notesSlides/notesSlide13.xml" Id="R9a2af25c67ed48c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5f6b72bda04739" /><Relationship Type="http://schemas.openxmlformats.org/officeDocument/2006/relationships/image" Target="/ppt/media/image26.png" Id="R68f1ba82e1da4059" /><Relationship Type="http://schemas.openxmlformats.org/officeDocument/2006/relationships/notesSlide" Target="/ppt/notesSlides/notesSlide14.xml" Id="R4cb67c6b3bed4dc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7aa90f22244b1" /><Relationship Type="http://schemas.openxmlformats.org/officeDocument/2006/relationships/image" Target="/ppt/media/image27.png" Id="R0d0468eb41194335" /><Relationship Type="http://schemas.openxmlformats.org/officeDocument/2006/relationships/notesSlide" Target="/ppt/notesSlides/notesSlide15.xml" Id="R853c84fc4a35414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f37ec16ba425c" /><Relationship Type="http://schemas.openxmlformats.org/officeDocument/2006/relationships/image" Target="/ppt/media/image28.png" Id="R4cedc1742cd24ce8" /><Relationship Type="http://schemas.openxmlformats.org/officeDocument/2006/relationships/image" Target="/ppt/media/image29.png" Id="R55b10188da4b40c0" /><Relationship Type="http://schemas.openxmlformats.org/officeDocument/2006/relationships/image" Target="/ppt/media/image30.png" Id="R85944cf27d514b4b" /><Relationship Type="http://schemas.openxmlformats.org/officeDocument/2006/relationships/notesSlide" Target="/ppt/notesSlides/notesSlide16.xml" Id="R36a062c7d88244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2323EF-5F9A-4A61-AE36-7189873B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523073-6FB7-44F9-A58F-F6F1E037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6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77249D-25DE-42BF-B3D2-9E4EC71D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571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ebb0321fc34813"/>
          <a:stretch xmlns:a="http://schemas.openxmlformats.org/drawingml/2006/main"/>
        </p:blipFill>
        <p:spPr>
          <a:xfrm xmlns:a="http://schemas.openxmlformats.org/drawingml/2006/main">
            <a:off x="7715250" y="1238250"/>
            <a:ext cx="3143250" cy="314325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6466195ffe45cc"/>
          <a:stretch xmlns:a="http://schemas.openxmlformats.org/drawingml/2006/main"/>
        </p:blipFill>
        <p:spPr>
          <a:xfrm xmlns:a="http://schemas.openxmlformats.org/drawingml/2006/main">
            <a:off x="904875" y="1382819"/>
            <a:ext cx="5429250" cy="106341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865AE5-C1F2-4F83-BD29-A5C970F4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609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252B"/>
                </a:solidFill>
              </a:defRPr>
            </a:pPr>
            <a:r>
              <a:rPr sz="2400" b="1">
                <a:solidFill>
                  <a:srgbClr val="20252B"/>
                </a:solidFill>
              </a:rPr>
              <a:t>Cribado morfológico celular asistido por 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30182B-4066-4FEA-A3A8-1275F487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FA7F0"/>
                </a:solidFill>
              </a:defRPr>
            </a:pPr>
            <a:r>
              <a:rPr sz="2025" b="1">
                <a:solidFill>
                  <a:srgbClr val="2FA7F0"/>
                </a:solidFill>
              </a:rPr>
              <a:t>on-device · Android y macOS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56E6C-5506-4367-844E-24B39147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38625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56AE3"/>
                </a:solidFill>
              </a:defRPr>
            </a:pPr>
            <a:r>
              <a:rPr sz="2325" b="1">
                <a:solidFill>
                  <a:srgbClr val="A56AE3"/>
                </a:solidFill>
              </a:rPr>
              <a:t>Prioriza. El criterio, siempre humano.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3801B-FAF0-4B75-A74E-037296D5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958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17C"/>
                </a:solidFill>
              </a:defRPr>
            </a:pPr>
            <a:r>
              <a:rPr sz="1650" b="0">
                <a:solidFill>
                  <a:srgbClr val="66717C"/>
                </a:solidFill>
              </a:rPr>
              <a:t>TFM ·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DE101E-64B9-4D0E-96FE-0C1D36ED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292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52B"/>
                </a:solidFill>
              </a:defRPr>
            </a:pPr>
            <a:r>
              <a:rPr sz="1725" b="1">
                <a:solidFill>
                  <a:srgbClr val="20252B"/>
                </a:solidFill>
              </a:rPr>
              <a:t>Sergio Álvarez · Lovelaced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8827457e054742"/>
          <a:stretch xmlns:a="http://schemas.openxmlformats.org/drawingml/2006/main"/>
        </p:blipFill>
        <p:spPr>
          <a:xfrm xmlns:a="http://schemas.openxmlformats.org/drawingml/2006/main">
            <a:off x="10306050" y="5581650"/>
            <a:ext cx="1066800" cy="1066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2242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A3BC03-E759-49F0-90F7-26E195E4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56AE3"/>
                </a:solidFill>
              </a:defRPr>
            </a:pPr>
            <a:r>
              <a:rPr sz="1350" b="1">
                <a:solidFill>
                  <a:srgbClr val="A56AE3"/>
                </a:solidFill>
              </a:rPr>
              <a:t>ORIGEN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0C606-56AF-4D6A-8425-D9D3BCDE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0334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52B"/>
                </a:solidFill>
              </a:defRPr>
            </a:pPr>
            <a:r>
              <a:rPr sz="2850" b="1">
                <a:solidFill>
                  <a:srgbClr val="20252B"/>
                </a:solidFill>
              </a:rPr>
              <a:t>Nace de una necesidad real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552ADF-D0E1-459A-AF9A-77E849F3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0175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6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58ED84-90FB-43D2-9791-4FAF89F2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17C"/>
                </a:solidFill>
              </a:defRPr>
            </a:pPr>
            <a:r>
              <a:rPr sz="1350" b="1">
                <a:solidFill>
                  <a:srgbClr val="66717C"/>
                </a:solidFill>
              </a:rPr>
              <a:t>02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8d9c1ae49d48c1"/>
          <a:srcRect xmlns:a="http://schemas.openxmlformats.org/drawingml/2006/main" l="4670" t="0" r="46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666875"/>
            <a:ext cx="5286375" cy="3143250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881367-EFC8-448B-BCF8-4AD183CD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0"/>
            <a:ext cx="2647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E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C74EF-6F4D-4BEF-8BBE-19E3C3F9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76825"/>
            <a:ext cx="249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56AE3"/>
                </a:solidFill>
              </a:defRPr>
            </a:pPr>
            <a:r>
              <a:rPr sz="1500" b="1">
                <a:solidFill>
                  <a:srgbClr val="A56AE3"/>
                </a:solidFill>
              </a:rPr>
              <a:t>CONTRASTE CON EL SECTOR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90099B-F222-47DE-80DE-62052A58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762125"/>
            <a:ext cx="4762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252B"/>
                </a:solidFill>
              </a:defRPr>
            </a:pPr>
            <a:r>
              <a:rPr sz="2400" b="1">
                <a:solidFill>
                  <a:srgbClr val="20252B"/>
                </a:solidFill>
              </a:rPr>
              <a:t>La idea parte de profesionales que identificaron una necesidad no cubierta en el cribado morfológico.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B88746-0319-478D-A1FD-6188343F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194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A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FA882-80B7-4A1E-9FCB-70736551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333750"/>
            <a:ext cx="43529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52B"/>
                </a:solidFill>
              </a:defRPr>
            </a:pPr>
            <a:r>
              <a:rPr sz="1875" b="0">
                <a:solidFill>
                  <a:srgbClr val="20252B"/>
                </a:solidFill>
              </a:rPr>
              <a:t>El problema se define desde la práctica clínica.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462881-0064-483E-A88B-E91A29D3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862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A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0858FF-674B-4790-B332-737D34EF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000500"/>
            <a:ext cx="43529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52B"/>
                </a:solidFill>
              </a:defRPr>
            </a:pPr>
            <a:r>
              <a:rPr sz="1875" b="0">
                <a:solidFill>
                  <a:srgbClr val="20252B"/>
                </a:solidFill>
              </a:rPr>
              <a:t>La solución responde a un caso de uso concreto.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7E25B6-FC81-4E94-A25A-27F2426B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7529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A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0CA906-39DA-4BB5-A81A-9B5D47B4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667250"/>
            <a:ext cx="43529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52B"/>
                </a:solidFill>
              </a:defRPr>
            </a:pPr>
            <a:r>
              <a:rPr sz="1875" b="0">
                <a:solidFill>
                  <a:srgbClr val="20252B"/>
                </a:solidFill>
              </a:rPr>
              <a:t>El alcance se ajusta con feedback profesional.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9096c0516475a"/>
          <a:stretch xmlns:a="http://schemas.openxmlformats.org/drawingml/2006/main"/>
        </p:blipFill>
        <p:spPr>
          <a:xfrm xmlns:a="http://schemas.openxmlformats.org/drawingml/2006/main">
            <a:off x="666750" y="63341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AE28B6-5B13-4A2A-A160-B85F5099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324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7C"/>
                </a:solidFill>
              </a:defRPr>
            </a:pPr>
            <a:r>
              <a:rPr sz="1350" b="0">
                <a:solidFill>
                  <a:srgbClr val="66717C"/>
                </a:solidFill>
              </a:rPr>
              <a:t>Prototipo académico · No diagnóstico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FAA5A4-F319-4495-B84D-87BB5435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17C"/>
                </a:solidFill>
              </a:defRPr>
            </a:pPr>
            <a:r>
              <a:rPr sz="1350" b="0">
                <a:solidFill>
                  <a:srgbClr val="66717C"/>
                </a:solidFill>
              </a:rPr>
              <a:t>2 / 16</a:t>
            </a:r>
          </a:p>
        </p:txBody>
      </p:sp>
    </p:spTree>
    <p:extLst>
      <p:ext uri="{BB962C8B-B14F-4D97-AF65-F5344CB8AC3E}">
        <p14:creationId xmlns:p14="http://schemas.microsoft.com/office/powerpoint/2010/main" val="11465128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91AAF2-224D-4F1F-9B64-600255E3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56AE3"/>
                </a:solidFill>
              </a:defRPr>
            </a:pPr>
            <a:r>
              <a:rPr sz="1350" b="1">
                <a:solidFill>
                  <a:srgbClr val="A56AE3"/>
                </a:solidFill>
              </a:rPr>
              <a:t>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F98F7-70FF-43DF-881B-B67A51F2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0334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52B"/>
                </a:solidFill>
              </a:defRPr>
            </a:pPr>
            <a:r>
              <a:rPr sz="2850" b="1">
                <a:solidFill>
                  <a:srgbClr val="20252B"/>
                </a:solidFill>
              </a:rPr>
              <a:t>El cribado manual es lento y depende de la experiencia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8EA18-8084-41FC-B43C-3A2C5642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0175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6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209778-6847-48AE-A492-3278848F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17C"/>
                </a:solidFill>
              </a:defRPr>
            </a:pPr>
            <a:r>
              <a:rPr sz="1350" b="1">
                <a:solidFill>
                  <a:srgbClr val="66717C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70958-8D00-4541-A8C3-10AF83DA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638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52B"/>
                </a:solidFill>
              </a:defRPr>
            </a:pPr>
            <a:r>
              <a:rPr sz="2325" b="1">
                <a:solidFill>
                  <a:srgbClr val="20252B"/>
                </a:solidFill>
              </a:rPr>
              <a:t>Una cola única no distingue lo rutinario de lo potencialmente urgente.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F1692F-79D1-478B-A373-A701CA61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123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11430">
            <a:solidFill>
              <a:srgbClr val="DDE5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F78D2A-3F70-43D6-98D5-D6D3FCA1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10515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6717C"/>
                </a:solidFill>
              </a:defRPr>
            </a:pPr>
            <a:r>
              <a:rPr sz="1650" b="1">
                <a:solidFill>
                  <a:srgbClr val="66717C"/>
                </a:solidFill>
              </a:rPr>
              <a:t>Muestra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B05DEE-940F-49DC-98E0-1A242334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57500"/>
            <a:ext cx="1123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11430">
            <a:solidFill>
              <a:srgbClr val="DDE5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D90508-2E46-4D1F-83CB-B2582951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10515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6717C"/>
                </a:solidFill>
              </a:defRPr>
            </a:pPr>
            <a:r>
              <a:rPr sz="1650" b="1">
                <a:solidFill>
                  <a:srgbClr val="66717C"/>
                </a:solidFill>
              </a:rPr>
              <a:t>Muestra 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44429B-5A9B-405E-A2DF-5878F259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1123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11430">
            <a:solidFill>
              <a:srgbClr val="DDE5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3F151E-CA0A-414E-9A03-51A9A2C5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0515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6717C"/>
                </a:solidFill>
              </a:defRPr>
            </a:pPr>
            <a:r>
              <a:rPr sz="1650" b="1">
                <a:solidFill>
                  <a:srgbClr val="66717C"/>
                </a:solidFill>
              </a:rPr>
              <a:t>Muestra 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7E9185-22B8-49F5-ABDD-87ABF4C3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57500"/>
            <a:ext cx="11239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11430">
            <a:solidFill>
              <a:srgbClr val="DDE5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14ACAC-61BA-409D-A1BB-D3759FB8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10515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6717C"/>
                </a:solidFill>
              </a:defRPr>
            </a:pPr>
            <a:r>
              <a:rPr sz="1650" b="1">
                <a:solidFill>
                  <a:srgbClr val="66717C"/>
                </a:solidFill>
              </a:rPr>
              <a:t>Muestra 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A1A797-3403-43D8-A34E-1D628AFE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00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6717C"/>
                </a:solidFill>
              </a:defRPr>
            </a:pPr>
            <a:r>
              <a:rPr sz="1650" b="1">
                <a:solidFill>
                  <a:srgbClr val="66717C"/>
                </a:solidFill>
              </a:rPr>
              <a:t>MISMA COLA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392F86-EF87-450E-AB48-60048E79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14500"/>
            <a:ext cx="409575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EE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B3AE84-A4D3-4D21-9D1A-75DE2126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907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56AE3"/>
                </a:solidFill>
              </a:defRPr>
            </a:pPr>
            <a:r>
              <a:rPr sz="2250" b="1">
                <a:solidFill>
                  <a:srgbClr val="A56AE3"/>
                </a:solidFill>
              </a:rPr>
              <a:t>El coste real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1EFC41-D999-409B-A92A-2D7C3618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813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52B"/>
                </a:solidFill>
              </a:defRPr>
            </a:pPr>
            <a:r>
              <a:rPr sz="2700" b="1">
                <a:solidFill>
                  <a:srgbClr val="20252B"/>
                </a:solidFill>
              </a:rPr>
              <a:t>no es solo tiempo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1ACFCA-19D7-4920-A5BE-B22AA826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52B"/>
                </a:solidFill>
              </a:defRPr>
            </a:pPr>
            <a:r>
              <a:rPr sz="2025" b="0">
                <a:solidFill>
                  <a:srgbClr val="20252B"/>
                </a:solidFill>
              </a:rPr>
              <a:t>Es no saber qué muestra conviene revisar primero.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2d662573494855"/>
          <a:stretch xmlns:a="http://schemas.openxmlformats.org/drawingml/2006/main"/>
        </p:blipFill>
        <p:spPr>
          <a:xfrm xmlns:a="http://schemas.openxmlformats.org/drawingml/2006/main">
            <a:off x="666750" y="63341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2CF11A-3451-47D6-B398-0874A81D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324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7C"/>
                </a:solidFill>
              </a:defRPr>
            </a:pPr>
            <a:r>
              <a:rPr sz="1350" b="0">
                <a:solidFill>
                  <a:srgbClr val="66717C"/>
                </a:solidFill>
              </a:rPr>
              <a:t>Prototipo académico · No diagnóstico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C79EAD-5843-4646-B626-68218AE4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17C"/>
                </a:solidFill>
              </a:defRPr>
            </a:pPr>
            <a:r>
              <a:rPr sz="1350" b="0">
                <a:solidFill>
                  <a:srgbClr val="66717C"/>
                </a:solidFill>
              </a:rPr>
              <a:t>3 / 16</a:t>
            </a:r>
          </a:p>
        </p:txBody>
      </p:sp>
    </p:spTree>
    <p:extLst>
      <p:ext uri="{BB962C8B-B14F-4D97-AF65-F5344CB8AC3E}">
        <p14:creationId xmlns:p14="http://schemas.microsoft.com/office/powerpoint/2010/main" val="9032208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C84314-FA5B-44BD-93A8-9FE1AEF7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56AE3"/>
                </a:solidFill>
              </a:defRPr>
            </a:pPr>
            <a:r>
              <a:rPr sz="1350" b="1">
                <a:solidFill>
                  <a:srgbClr val="A56AE3"/>
                </a:solidFill>
              </a:rPr>
              <a:t>PRIORIZACIÓN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B1C6F-CB48-4EC7-ACFA-7AC4BB7F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0334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52B"/>
                </a:solidFill>
              </a:defRPr>
            </a:pPr>
            <a:r>
              <a:rPr sz="2850" b="1">
                <a:solidFill>
                  <a:srgbClr val="20252B"/>
                </a:solidFill>
              </a:rPr>
              <a:t>No todas las muestras pueden esperar lo mismo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800A64-DFFE-4E00-8727-2C5017CB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0175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6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80A83-2B64-43E8-80D2-9937224B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17C"/>
                </a:solidFill>
              </a:defRPr>
            </a:pPr>
            <a:r>
              <a:rPr sz="1350" b="1">
                <a:solidFill>
                  <a:srgbClr val="66717C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CA8014-7BB5-4C87-9F3E-FA7464A7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252B"/>
                </a:solidFill>
              </a:defRPr>
            </a:pPr>
            <a:r>
              <a:rPr sz="2250" b="1">
                <a:solidFill>
                  <a:srgbClr val="20252B"/>
                </a:solidFill>
              </a:rPr>
              <a:t>Cribar significa ordenar la cola, no emitir un diagnóstico.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78F246-438C-4727-B586-B39B854B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145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17C"/>
                </a:solidFill>
              </a:defRPr>
            </a:pPr>
            <a:r>
              <a:rPr sz="1500" b="1">
                <a:solidFill>
                  <a:srgbClr val="66717C"/>
                </a:solidFill>
              </a:rPr>
              <a:t>COLA SIN PRIORIZAR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BCEB5-FD72-4955-9ADB-AF4CCA30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762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11430">
            <a:solidFill>
              <a:srgbClr val="DDE5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D21E6-DE48-44DE-ACE8-56D4F5E5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717C"/>
                </a:solidFill>
              </a:defRPr>
            </a:pPr>
            <a:r>
              <a:rPr sz="2100" b="1">
                <a:solidFill>
                  <a:srgbClr val="66717C"/>
                </a:solidFill>
              </a:rPr>
              <a:t>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303B7-6056-49C1-AF69-632CCAF6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809875"/>
            <a:ext cx="762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11430">
            <a:solidFill>
              <a:srgbClr val="DDE5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9DE6E3-4934-45D4-872C-222FBB46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97180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717C"/>
                </a:solidFill>
              </a:defRPr>
            </a:pPr>
            <a:r>
              <a:rPr sz="2100" b="1">
                <a:solidFill>
                  <a:srgbClr val="66717C"/>
                </a:solidFill>
              </a:rPr>
              <a:t>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FF03F6-D985-469A-90F6-3BC59202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09875"/>
            <a:ext cx="762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11430">
            <a:solidFill>
              <a:srgbClr val="DDE5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25C600-701B-4296-9606-00A43C12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7180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717C"/>
                </a:solidFill>
              </a:defRPr>
            </a:pPr>
            <a:r>
              <a:rPr sz="2100" b="1">
                <a:solidFill>
                  <a:srgbClr val="66717C"/>
                </a:solidFill>
              </a:rPr>
              <a:t>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F23872-492A-440E-AAA0-64396F63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09875"/>
            <a:ext cx="762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11430">
            <a:solidFill>
              <a:srgbClr val="DDE5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7B5663-7A75-4F99-8ED4-FD79F5A8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97180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717C"/>
                </a:solidFill>
              </a:defRPr>
            </a:pPr>
            <a:r>
              <a:rPr sz="2100" b="1">
                <a:solidFill>
                  <a:srgbClr val="66717C"/>
                </a:solidFill>
              </a:rPr>
              <a:t>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15CC90-1334-4F03-B59A-D99D9F55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09875"/>
            <a:ext cx="762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11430">
            <a:solidFill>
              <a:srgbClr val="DDE5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534BD5-39A1-40B3-93E0-4B23CBD4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7180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717C"/>
                </a:solidFill>
              </a:defRPr>
            </a:pPr>
            <a:r>
              <a:rPr sz="2100" b="1">
                <a:solidFill>
                  <a:srgbClr val="66717C"/>
                </a:solidFill>
              </a:rPr>
              <a:t>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623EF8-3956-485F-B96B-D86C7856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00350"/>
            <a:ext cx="685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A56AE3"/>
                </a:solidFill>
              </a:defRPr>
            </a:pPr>
            <a:r>
              <a:rPr sz="3900" b="1">
                <a:solidFill>
                  <a:srgbClr val="A56AE3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FA52F9-31F9-4D74-B0AD-C89728C9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145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17C"/>
                </a:solidFill>
              </a:defRPr>
            </a:pPr>
            <a:r>
              <a:rPr sz="1500" b="1">
                <a:solidFill>
                  <a:srgbClr val="66717C"/>
                </a:solidFill>
              </a:rPr>
              <a:t>COLA PRIORIZADA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5F8AF5-FD5F-4895-816D-3FFD12B4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9875"/>
            <a:ext cx="1143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94B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A36AB0-165A-4726-BA38-D5612E18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0990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ALTA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7FCEE2-942B-4B79-8DD8-6E13A2B2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809875"/>
            <a:ext cx="1143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3B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F9DBD2-231C-41C0-9B85-41EC168A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00990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MEDIA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1FFEEF-A44D-4BD7-B533-E07A3A11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09875"/>
            <a:ext cx="1143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FD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BCC8F6-8AD2-4971-93C6-8BCBD098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0990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BAJA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193A02-92DC-4103-84AB-02A030D8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10429875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EAF7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A72C0E-91F0-4AA7-A255-12585058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2437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A7F0"/>
                </a:solidFill>
              </a:defRPr>
            </a:pPr>
            <a:r>
              <a:rPr sz="1875" b="1">
                <a:solidFill>
                  <a:srgbClr val="2FA7F0"/>
                </a:solidFill>
              </a:rPr>
              <a:t>Objetivo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96E6D0-A2E0-4E43-ACA1-95CB23FF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29125"/>
            <a:ext cx="8239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B"/>
                </a:solidFill>
              </a:defRPr>
            </a:pPr>
            <a:r>
              <a:rPr sz="2175" b="1">
                <a:solidFill>
                  <a:srgbClr val="20252B"/>
                </a:solidFill>
              </a:rPr>
              <a:t>Empezar por lo potencialmente relevante y mantener siempre la decisión en manos del profesional.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019226b11b4eb1"/>
          <a:stretch xmlns:a="http://schemas.openxmlformats.org/drawingml/2006/main"/>
        </p:blipFill>
        <p:spPr>
          <a:xfrm xmlns:a="http://schemas.openxmlformats.org/drawingml/2006/main">
            <a:off x="666750" y="63341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8990FB-E682-4D2A-A021-048ED917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324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7C"/>
                </a:solidFill>
              </a:defRPr>
            </a:pPr>
            <a:r>
              <a:rPr sz="1350" b="0">
                <a:solidFill>
                  <a:srgbClr val="66717C"/>
                </a:solidFill>
              </a:rPr>
              <a:t>Prototipo académico · No diagnóstico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7BBA5E-2808-415E-B2B0-A25ABCB4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17C"/>
                </a:solidFill>
              </a:defRPr>
            </a:pPr>
            <a:r>
              <a:rPr sz="1350" b="0">
                <a:solidFill>
                  <a:srgbClr val="66717C"/>
                </a:solidFill>
              </a:rPr>
              <a:t>4 / 16</a:t>
            </a:r>
          </a:p>
        </p:txBody>
      </p:sp>
    </p:spTree>
    <p:extLst>
      <p:ext uri="{BB962C8B-B14F-4D97-AF65-F5344CB8AC3E}">
        <p14:creationId xmlns:p14="http://schemas.microsoft.com/office/powerpoint/2010/main" val="6048237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F57D22-44C6-4C1C-94B1-4FC96B3A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56AE3"/>
                </a:solidFill>
              </a:defRPr>
            </a:pPr>
            <a:r>
              <a:rPr sz="1350" b="1">
                <a:solidFill>
                  <a:srgbClr val="A56AE3"/>
                </a:solidFill>
              </a:rPr>
              <a:t>VALIDACIÓN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20580-F1B3-4612-B6CC-529B48BB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0334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52B"/>
                </a:solidFill>
              </a:defRPr>
            </a:pPr>
            <a:r>
              <a:rPr sz="2850" b="1">
                <a:solidFill>
                  <a:srgbClr val="20252B"/>
                </a:solidFill>
              </a:rPr>
              <a:t>El enfoque se contrasta con profesionales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C78621-6617-4B88-B78F-2A61ACD7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0175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6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5263D-7AFF-469B-A5BB-25E0DAB9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17C"/>
                </a:solidFill>
              </a:defRPr>
            </a:pPr>
            <a:r>
              <a:rPr sz="1350" b="1">
                <a:solidFill>
                  <a:srgbClr val="66717C"/>
                </a:solidFill>
              </a:rPr>
              <a:t>05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15f10debfc4a55"/>
          <a:srcRect xmlns:a="http://schemas.openxmlformats.org/drawingml/2006/main" l="13078" t="0" r="130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666875"/>
            <a:ext cx="4762500" cy="3476625"/>
          </a:xfrm>
          <a:prstGeom xmlns:a="http://schemas.openxmlformats.org/drawingml/2006/main" prst="roundRect">
            <a:avLst>
              <a:gd name="adj" fmla="val 438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17B55-91C5-4979-85B6-225A88EC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71450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52B"/>
                </a:solidFill>
              </a:defRPr>
            </a:pPr>
            <a:r>
              <a:rPr sz="2325" b="1">
                <a:solidFill>
                  <a:srgbClr val="20252B"/>
                </a:solidFill>
              </a:rPr>
              <a:t>La validación busca responder tres preguntas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33328D-D98C-480C-9558-813FA2F2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765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F06A3D-10B3-4079-9EA6-CDD31EC3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A7F0"/>
                </a:solidFill>
              </a:defRPr>
            </a:pPr>
            <a:r>
              <a:rPr sz="1800" b="1">
                <a:solidFill>
                  <a:srgbClr val="2FA7F0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A6854A-FF81-45FC-9697-456E0108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574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252B"/>
                </a:solidFill>
              </a:defRPr>
            </a:pPr>
            <a:r>
              <a:rPr sz="2025" b="1">
                <a:solidFill>
                  <a:srgbClr val="20252B"/>
                </a:solidFill>
              </a:rPr>
              <a:t>¿Qué debe priorizar?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5FE650-ACAC-4382-9708-84FC4942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337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DCF58B-E5A1-4470-A881-F1B04399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2900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A7F0"/>
                </a:solidFill>
              </a:defRPr>
            </a:pPr>
            <a:r>
              <a:rPr sz="1800" b="1">
                <a:solidFill>
                  <a:srgbClr val="2FA7F0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8EA415-558F-478F-A614-FD2B7A20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1470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252B"/>
                </a:solidFill>
              </a:defRPr>
            </a:pPr>
            <a:r>
              <a:rPr sz="2025" b="1">
                <a:solidFill>
                  <a:srgbClr val="20252B"/>
                </a:solidFill>
              </a:rPr>
              <a:t>¿Cómo mostrar el resultado?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26442-6D05-4038-A874-B64241EB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910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E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738ACE-0657-45F2-BE8C-423797D2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862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56AE3"/>
                </a:solidFill>
              </a:defRPr>
            </a:pPr>
            <a:r>
              <a:rPr sz="1800" b="1">
                <a:solidFill>
                  <a:srgbClr val="A56AE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C174F2-BBC9-4ADF-A369-7201B867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719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252B"/>
                </a:solidFill>
              </a:defRPr>
            </a:pPr>
            <a:r>
              <a:rPr sz="2025" b="1">
                <a:solidFill>
                  <a:srgbClr val="20252B"/>
                </a:solidFill>
              </a:rPr>
              <a:t>¿Qué no debe hacer la herramienta?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32e3d311524204"/>
          <a:stretch xmlns:a="http://schemas.openxmlformats.org/drawingml/2006/main"/>
        </p:blipFill>
        <p:spPr>
          <a:xfrm xmlns:a="http://schemas.openxmlformats.org/drawingml/2006/main">
            <a:off x="666750" y="63341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4324C1-3F1D-4C6E-98C9-A73B2ED7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324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7C"/>
                </a:solidFill>
              </a:defRPr>
            </a:pPr>
            <a:r>
              <a:rPr sz="1350" b="0">
                <a:solidFill>
                  <a:srgbClr val="66717C"/>
                </a:solidFill>
              </a:rPr>
              <a:t>Prototipo académico · No diagnóstico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8A7006-EF7C-4449-9B4C-5C1D2ECB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17C"/>
                </a:solidFill>
              </a:defRPr>
            </a:pPr>
            <a:r>
              <a:rPr sz="1350" b="0">
                <a:solidFill>
                  <a:srgbClr val="66717C"/>
                </a:solidFill>
              </a:rPr>
              <a:t>5 / 16</a:t>
            </a:r>
          </a:p>
        </p:txBody>
      </p:sp>
    </p:spTree>
    <p:extLst>
      <p:ext uri="{BB962C8B-B14F-4D97-AF65-F5344CB8AC3E}">
        <p14:creationId xmlns:p14="http://schemas.microsoft.com/office/powerpoint/2010/main" val="1458396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A9B837-5B58-45A0-B09F-908396DB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56AE3"/>
                </a:solidFill>
              </a:defRPr>
            </a:pPr>
            <a:r>
              <a:rPr sz="1350" b="1">
                <a:solidFill>
                  <a:srgbClr val="A56AE3"/>
                </a:solidFill>
              </a:rPr>
              <a:t>SOLUCIÓN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22671-D2CA-4202-959C-5B9560CA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0334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52B"/>
                </a:solidFill>
              </a:defRPr>
            </a:pPr>
            <a:r>
              <a:rPr sz="2850" b="1">
                <a:solidFill>
                  <a:srgbClr val="20252B"/>
                </a:solidFill>
              </a:rPr>
              <a:t>citoVision convierte una imagen en una prioridad de revisión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70DB9-4C10-449E-9724-947D7C16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0175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6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2ED87-0BE5-4198-9008-9596A375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17C"/>
                </a:solidFill>
              </a:defRPr>
            </a:pPr>
            <a:r>
              <a:rPr sz="1350" b="1">
                <a:solidFill>
                  <a:srgbClr val="66717C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2A16B-0900-4ECE-8DA1-60205620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447800"/>
            <a:ext cx="2102644" cy="4486275"/>
          </a:xfrm>
          <a:prstGeom xmlns:a="http://schemas.openxmlformats.org/drawingml/2006/main" prst="roundRect">
            <a:avLst>
              <a:gd name="adj" fmla="val 7248"/>
            </a:avLst>
          </a:prstGeom>
          <a:solidFill xmlns:a="http://schemas.openxmlformats.org/drawingml/2006/main">
            <a:srgbClr val="171B20"/>
          </a:solidFill>
          <a:ln xmlns:a="http://schemas.openxmlformats.org/drawingml/2006/main" w="11430">
            <a:solidFill>
              <a:srgbClr val="171B2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b6d3f32ee5434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39125" y="1524000"/>
            <a:ext cx="1950244" cy="4333875"/>
          </a:xfrm>
          <a:prstGeom xmlns:a="http://schemas.openxmlformats.org/drawingml/2006/main" prst="roundRect">
            <a:avLst>
              <a:gd name="adj" fmla="val 586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3C320-B832-43D5-92F2-1F89A338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4697" y="1590675"/>
            <a:ext cx="4191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F548D-72FB-410A-B75B-15CA467D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62125"/>
            <a:ext cx="457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A7F0"/>
                </a:solidFill>
              </a:defRPr>
            </a:pPr>
            <a:r>
              <a:rPr sz="1725" b="1">
                <a:solidFill>
                  <a:srgbClr val="2FA7F0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0B30DC-C473-4342-9EE9-E7A51CA7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8592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52B"/>
                </a:solidFill>
              </a:defRPr>
            </a:pPr>
            <a:r>
              <a:rPr sz="2325" b="1">
                <a:solidFill>
                  <a:srgbClr val="20252B"/>
                </a:solidFill>
              </a:rPr>
              <a:t>Analiza on-device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5B179A-396A-46A1-AE2E-E7292703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07645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17C"/>
                </a:solidFill>
              </a:defRPr>
            </a:pPr>
            <a:r>
              <a:rPr sz="1800" b="0">
                <a:solidFill>
                  <a:srgbClr val="66717C"/>
                </a:solidFill>
              </a:rPr>
              <a:t>Detecta, clasifica y cuenta sin enviar la imagen a un servidor.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3ECC6C-ECB5-41C4-9F9A-ADCDDE2F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00375"/>
            <a:ext cx="457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D38A"/>
                </a:solidFill>
              </a:defRPr>
            </a:pPr>
            <a:r>
              <a:rPr sz="1725" b="1">
                <a:solidFill>
                  <a:srgbClr val="2FD38A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C860ED-90A7-4ACB-84CD-3605A701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92417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52B"/>
                </a:solidFill>
              </a:defRPr>
            </a:pPr>
            <a:r>
              <a:rPr sz="2325" b="1">
                <a:solidFill>
                  <a:srgbClr val="20252B"/>
                </a:solidFill>
              </a:rPr>
              <a:t>Prioriza, no diagnostica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36B9AE-5085-415B-8DE3-27530964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31470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17C"/>
                </a:solidFill>
              </a:defRPr>
            </a:pPr>
            <a:r>
              <a:rPr sz="1800" b="0">
                <a:solidFill>
                  <a:srgbClr val="66717C"/>
                </a:solidFill>
              </a:rPr>
              <a:t>Asigna prioridad baja, media o alta para ordenar la revisión.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EF1A37-DB3A-4AF7-A191-BB98EEBB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38625"/>
            <a:ext cx="457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56AE3"/>
                </a:solidFill>
              </a:defRPr>
            </a:pPr>
            <a:r>
              <a:rPr sz="1725" b="1">
                <a:solidFill>
                  <a:srgbClr val="A56AE3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F8475F-8033-45C1-84FC-ED0F35ED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16242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52B"/>
                </a:solidFill>
              </a:defRPr>
            </a:pPr>
            <a:r>
              <a:rPr sz="2325" b="1">
                <a:solidFill>
                  <a:srgbClr val="20252B"/>
                </a:solidFill>
              </a:rPr>
              <a:t>Un producto, dos plataformas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3266F4-5998-4099-AE94-BD91F937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5295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17C"/>
                </a:solidFill>
              </a:defRPr>
            </a:pPr>
            <a:r>
              <a:rPr sz="1800" b="0">
                <a:solidFill>
                  <a:srgbClr val="66717C"/>
                </a:solidFill>
              </a:rPr>
              <a:t>Android y macOS comparten núcleo y experiencia.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638DA5-CD66-458D-988C-3A7DC5E5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72125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56AE3"/>
                </a:solidFill>
              </a:defRPr>
            </a:pPr>
            <a:r>
              <a:rPr sz="2100" b="1">
                <a:solidFill>
                  <a:srgbClr val="A56AE3"/>
                </a:solidFill>
              </a:rPr>
              <a:t>La IA al servicio del profesional, nunca en su lugar.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36610aa76f4409"/>
          <a:stretch xmlns:a="http://schemas.openxmlformats.org/drawingml/2006/main"/>
        </p:blipFill>
        <p:spPr>
          <a:xfrm xmlns:a="http://schemas.openxmlformats.org/drawingml/2006/main">
            <a:off x="666750" y="63341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BFA881-5049-4198-9FA4-D56D1CE5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324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7C"/>
                </a:solidFill>
              </a:defRPr>
            </a:pPr>
            <a:r>
              <a:rPr sz="1350" b="0">
                <a:solidFill>
                  <a:srgbClr val="66717C"/>
                </a:solidFill>
              </a:rPr>
              <a:t>Prototipo académico · No diagnóstico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287BB8-1B5F-4005-A2A1-A5D8B348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17C"/>
                </a:solidFill>
              </a:defRPr>
            </a:pPr>
            <a:r>
              <a:rPr sz="1350" b="0">
                <a:solidFill>
                  <a:srgbClr val="66717C"/>
                </a:solidFill>
              </a:rPr>
              <a:t>6 / 16</a:t>
            </a:r>
          </a:p>
        </p:txBody>
      </p:sp>
    </p:spTree>
    <p:extLst>
      <p:ext uri="{BB962C8B-B14F-4D97-AF65-F5344CB8AC3E}">
        <p14:creationId xmlns:p14="http://schemas.microsoft.com/office/powerpoint/2010/main" val="19916617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9AEBE9-AA1F-45A9-943F-1F890097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56AE3"/>
                </a:solidFill>
              </a:defRPr>
            </a:pPr>
            <a:r>
              <a:rPr sz="1350" b="1">
                <a:solidFill>
                  <a:srgbClr val="A56AE3"/>
                </a:solidFill>
              </a:rPr>
              <a:t>FLUJO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C9156-6BE3-41C2-A27B-BF3BE496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0334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52B"/>
                </a:solidFill>
              </a:defRPr>
            </a:pPr>
            <a:r>
              <a:rPr sz="2850" b="1">
                <a:solidFill>
                  <a:srgbClr val="20252B"/>
                </a:solidFill>
              </a:rPr>
              <a:t>Del microscopio al resultado, en cuatro pasos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75DBA-C3EE-4502-B90A-7D53D6EF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0175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6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4F06B-3B0A-49FC-862D-A1C565A7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17C"/>
                </a:solidFill>
              </a:defRPr>
            </a:pPr>
            <a:r>
              <a:rPr sz="1350" b="1">
                <a:solidFill>
                  <a:srgbClr val="66717C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54296-AA09-4630-AD83-13B5E84A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590675"/>
            <a:ext cx="1652588" cy="3486150"/>
          </a:xfrm>
          <a:prstGeom xmlns:a="http://schemas.openxmlformats.org/drawingml/2006/main" prst="roundRect">
            <a:avLst>
              <a:gd name="adj" fmla="val 9222"/>
            </a:avLst>
          </a:prstGeom>
          <a:solidFill xmlns:a="http://schemas.openxmlformats.org/drawingml/2006/main">
            <a:srgbClr val="171B20"/>
          </a:solidFill>
          <a:ln xmlns:a="http://schemas.openxmlformats.org/drawingml/2006/main" w="11430">
            <a:solidFill>
              <a:srgbClr val="171B2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11720827b0419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85875" y="1666875"/>
            <a:ext cx="1500188" cy="3333750"/>
          </a:xfrm>
          <a:prstGeom xmlns:a="http://schemas.openxmlformats.org/drawingml/2006/main" prst="roundRect">
            <a:avLst>
              <a:gd name="adj" fmla="val 761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F97E06-ECEB-4B7F-A793-60FE53B6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419" y="1733550"/>
            <a:ext cx="4191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BFDDDF-80B0-45EF-9D04-C00CC1AC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590675"/>
            <a:ext cx="1652588" cy="3486150"/>
          </a:xfrm>
          <a:prstGeom xmlns:a="http://schemas.openxmlformats.org/drawingml/2006/main" prst="roundRect">
            <a:avLst>
              <a:gd name="adj" fmla="val 9222"/>
            </a:avLst>
          </a:prstGeom>
          <a:solidFill xmlns:a="http://schemas.openxmlformats.org/drawingml/2006/main">
            <a:srgbClr val="171B20"/>
          </a:solidFill>
          <a:ln xmlns:a="http://schemas.openxmlformats.org/drawingml/2006/main" w="11430">
            <a:solidFill>
              <a:srgbClr val="171B2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b03295a5fb417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10125" y="1666875"/>
            <a:ext cx="1500188" cy="3333750"/>
          </a:xfrm>
          <a:prstGeom xmlns:a="http://schemas.openxmlformats.org/drawingml/2006/main" prst="roundRect">
            <a:avLst>
              <a:gd name="adj" fmla="val 7619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1AFF0D-37E8-4626-9CD5-04618D8B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0669" y="1733550"/>
            <a:ext cx="4191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57938B-75C5-48E5-9E80-8A779C4A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590675"/>
            <a:ext cx="1652588" cy="3486150"/>
          </a:xfrm>
          <a:prstGeom xmlns:a="http://schemas.openxmlformats.org/drawingml/2006/main" prst="roundRect">
            <a:avLst>
              <a:gd name="adj" fmla="val 9222"/>
            </a:avLst>
          </a:prstGeom>
          <a:solidFill xmlns:a="http://schemas.openxmlformats.org/drawingml/2006/main">
            <a:srgbClr val="171B20"/>
          </a:solidFill>
          <a:ln xmlns:a="http://schemas.openxmlformats.org/drawingml/2006/main" w="11430">
            <a:solidFill>
              <a:srgbClr val="171B2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634f864f444f3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34375" y="1666875"/>
            <a:ext cx="1500188" cy="3333750"/>
          </a:xfrm>
          <a:prstGeom xmlns:a="http://schemas.openxmlformats.org/drawingml/2006/main" prst="roundRect">
            <a:avLst>
              <a:gd name="adj" fmla="val 7619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174977-E589-46FF-A299-2CDF08EA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4919" y="1733550"/>
            <a:ext cx="4191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19444F-D1FF-4271-92F0-44DA23AC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286375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FA7F0"/>
                </a:solidFill>
              </a:defRPr>
            </a:pPr>
            <a:r>
              <a:rPr sz="1725" b="1">
                <a:solidFill>
                  <a:srgbClr val="2FA7F0"/>
                </a:solidFill>
              </a:rPr>
              <a:t>1 · Selecciona la imagen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A4FB25-3E7F-44F2-A01A-35C13773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286375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A56AE3"/>
                </a:solidFill>
              </a:defRPr>
            </a:pPr>
            <a:r>
              <a:rPr sz="1725" b="1">
                <a:solidFill>
                  <a:srgbClr val="A56AE3"/>
                </a:solidFill>
              </a:rPr>
              <a:t>2 · Asigna un código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463F47-A33A-48F7-901D-DFC56D0F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286375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FD38A"/>
                </a:solidFill>
              </a:defRPr>
            </a:pPr>
            <a:r>
              <a:rPr sz="1725" b="1">
                <a:solidFill>
                  <a:srgbClr val="2FD38A"/>
                </a:solidFill>
              </a:rPr>
              <a:t>3–4 · Analiza y prioriza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0AB8F9-FA04-4B08-930F-4968A173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242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66717C"/>
                </a:solidFill>
              </a:defRPr>
            </a:pPr>
            <a:r>
              <a:rPr sz="3000" b="1">
                <a:solidFill>
                  <a:srgbClr val="66717C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92A7E2-A5C2-4184-8A86-0F41BA15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242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66717C"/>
                </a:solidFill>
              </a:defRPr>
            </a:pPr>
            <a:r>
              <a:rPr sz="3000" b="1">
                <a:solidFill>
                  <a:srgbClr val="66717C"/>
                </a:solidFill>
              </a:rPr>
              <a:t>→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a3caea5f14b83"/>
          <a:stretch xmlns:a="http://schemas.openxmlformats.org/drawingml/2006/main"/>
        </p:blipFill>
        <p:spPr>
          <a:xfrm xmlns:a="http://schemas.openxmlformats.org/drawingml/2006/main">
            <a:off x="666750" y="63341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175BEB-146D-485B-85B4-D8F860F6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324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7C"/>
                </a:solidFill>
              </a:defRPr>
            </a:pPr>
            <a:r>
              <a:rPr sz="1350" b="0">
                <a:solidFill>
                  <a:srgbClr val="66717C"/>
                </a:solidFill>
              </a:rPr>
              <a:t>Prototipo académico · No diagnóstico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E02AB5-E58C-4D5D-853C-6FFC1C45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17C"/>
                </a:solidFill>
              </a:defRPr>
            </a:pPr>
            <a:r>
              <a:rPr sz="1350" b="0">
                <a:solidFill>
                  <a:srgbClr val="66717C"/>
                </a:solidFill>
              </a:rPr>
              <a:t>7 / 16</a:t>
            </a:r>
          </a:p>
        </p:txBody>
      </p:sp>
    </p:spTree>
    <p:extLst>
      <p:ext uri="{BB962C8B-B14F-4D97-AF65-F5344CB8AC3E}">
        <p14:creationId xmlns:p14="http://schemas.microsoft.com/office/powerpoint/2010/main" val="17852631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504588-61BB-4560-AD4B-3E9746FA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56AE3"/>
                </a:solidFill>
              </a:defRPr>
            </a:pPr>
            <a:r>
              <a:rPr sz="1350" b="1">
                <a:solidFill>
                  <a:srgbClr val="A56AE3"/>
                </a:solidFill>
              </a:rPr>
              <a:t>RESULTADO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7A734B-8E79-4107-AACF-C1BF206A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0334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52B"/>
                </a:solidFill>
              </a:defRPr>
            </a:pPr>
            <a:r>
              <a:rPr sz="2850" b="1">
                <a:solidFill>
                  <a:srgbClr val="20252B"/>
                </a:solidFill>
              </a:rPr>
              <a:t>El resultado resume prioridad, conteo y confianza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3201CD-E747-4A94-90A9-3FF5B8A2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0175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6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DF3D80-F7F0-4865-963F-4DCCBAE7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17C"/>
                </a:solidFill>
              </a:defRPr>
            </a:pPr>
            <a:r>
              <a:rPr sz="1350" b="1">
                <a:solidFill>
                  <a:srgbClr val="66717C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72DDE-39B5-4617-A231-B4D51120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400175"/>
            <a:ext cx="2166938" cy="4629150"/>
          </a:xfrm>
          <a:prstGeom xmlns:a="http://schemas.openxmlformats.org/drawingml/2006/main" prst="roundRect">
            <a:avLst>
              <a:gd name="adj" fmla="val 7033"/>
            </a:avLst>
          </a:prstGeom>
          <a:solidFill xmlns:a="http://schemas.openxmlformats.org/drawingml/2006/main">
            <a:srgbClr val="171B20"/>
          </a:solidFill>
          <a:ln xmlns:a="http://schemas.openxmlformats.org/drawingml/2006/main" w="11430">
            <a:solidFill>
              <a:srgbClr val="171B2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6f619ce33a4b6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14500" y="1476375"/>
            <a:ext cx="2014538" cy="4476750"/>
          </a:xfrm>
          <a:prstGeom xmlns:a="http://schemas.openxmlformats.org/drawingml/2006/main" prst="roundRect">
            <a:avLst>
              <a:gd name="adj" fmla="val 567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84FF4B-86BE-4B7D-B707-C438B568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2219" y="1543050"/>
            <a:ext cx="4191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082C9D-15D5-418C-BB2B-31CF76F8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762125"/>
            <a:ext cx="4095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5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66B1DF-8A94-4D4C-A0A8-7B1E1D01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762125"/>
            <a:ext cx="7620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4B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9FAB9E-D8FB-4388-A9D1-7AF7E5C0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8859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4B65"/>
                </a:solidFill>
              </a:defRPr>
            </a:pPr>
            <a:r>
              <a:rPr sz="1350" b="1">
                <a:solidFill>
                  <a:srgbClr val="E94B65"/>
                </a:solidFill>
              </a:rPr>
              <a:t>PRIORIDAD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7672D1-8135-4797-9CCE-EFDF0823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171700"/>
            <a:ext cx="354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52B"/>
                </a:solidFill>
              </a:defRPr>
            </a:pPr>
            <a:r>
              <a:rPr sz="1350" b="0">
                <a:solidFill>
                  <a:srgbClr val="20252B"/>
                </a:solidFill>
              </a:rPr>
              <a:t>Señala qué muestra conviene revisar antes.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8605FA-A084-4C95-8C67-0FB75D1E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48000"/>
            <a:ext cx="4095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5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D2CCF5-DE01-4D9F-AB2C-8CC55BC8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48000"/>
            <a:ext cx="7620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A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C0D59D-41C2-46B1-9E3A-05AEF57D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17182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A7F0"/>
                </a:solidFill>
              </a:defRPr>
            </a:pPr>
            <a:r>
              <a:rPr sz="1350" b="1">
                <a:solidFill>
                  <a:srgbClr val="2FA7F0"/>
                </a:solidFill>
              </a:rPr>
              <a:t>CONTEO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99564C-66F7-4378-89CF-B7F90E7D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457575"/>
            <a:ext cx="354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52B"/>
                </a:solidFill>
              </a:defRPr>
            </a:pPr>
            <a:r>
              <a:rPr sz="1350" b="0">
                <a:solidFill>
                  <a:srgbClr val="20252B"/>
                </a:solidFill>
              </a:rPr>
              <a:t>Resume los tipos celulares detectados.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BB249E-62C3-46E1-9E2B-B7E949C5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33875"/>
            <a:ext cx="4095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5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58F421-6389-4B53-9BC3-90D87D16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33875"/>
            <a:ext cx="7620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6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BEB7F2-9A2F-4CD5-BB24-D40D4E9E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4577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56AE3"/>
                </a:solidFill>
              </a:defRPr>
            </a:pPr>
            <a:r>
              <a:rPr sz="1350" b="1">
                <a:solidFill>
                  <a:srgbClr val="A56AE3"/>
                </a:solidFill>
              </a:rPr>
              <a:t>CONFIANZA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FB86E0-7093-43B6-AB69-5583C8D1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743450"/>
            <a:ext cx="354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52B"/>
                </a:solidFill>
              </a:defRPr>
            </a:pPr>
            <a:r>
              <a:rPr sz="1350" b="0">
                <a:solidFill>
                  <a:srgbClr val="20252B"/>
                </a:solidFill>
              </a:rPr>
              <a:t>Muestra la certeza estimada para cada célula.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3B9C6A-C230-4CE4-9B12-21EEDF12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626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94B65"/>
                </a:solidFill>
              </a:defRPr>
            </a:pPr>
            <a:r>
              <a:rPr sz="1575" b="1">
                <a:solidFill>
                  <a:srgbClr val="E94B65"/>
                </a:solidFill>
              </a:rPr>
              <a:t>Siempre visible: citoVision no diagnostica.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da2c85374946de"/>
          <a:stretch xmlns:a="http://schemas.openxmlformats.org/drawingml/2006/main"/>
        </p:blipFill>
        <p:spPr>
          <a:xfrm xmlns:a="http://schemas.openxmlformats.org/drawingml/2006/main">
            <a:off x="666750" y="63341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CEF9AD-391A-4CDC-A58E-DCA0A881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324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7C"/>
                </a:solidFill>
              </a:defRPr>
            </a:pPr>
            <a:r>
              <a:rPr sz="1350" b="0">
                <a:solidFill>
                  <a:srgbClr val="66717C"/>
                </a:solidFill>
              </a:rPr>
              <a:t>Prototipo académico · No diagnóstico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E13A0E-C926-4DD5-B21A-3A63F8DF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17C"/>
                </a:solidFill>
              </a:defRPr>
            </a:pPr>
            <a:r>
              <a:rPr sz="1350" b="0">
                <a:solidFill>
                  <a:srgbClr val="66717C"/>
                </a:solidFill>
              </a:rPr>
              <a:t>8 / 16</a:t>
            </a:r>
          </a:p>
        </p:txBody>
      </p:sp>
    </p:spTree>
    <p:extLst>
      <p:ext uri="{BB962C8B-B14F-4D97-AF65-F5344CB8AC3E}">
        <p14:creationId xmlns:p14="http://schemas.microsoft.com/office/powerpoint/2010/main" val="17817507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1F4F1C-759D-4294-8590-E3B01724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56AE3"/>
                </a:solidFill>
              </a:defRPr>
            </a:pPr>
            <a:r>
              <a:rPr sz="1350" b="1">
                <a:solidFill>
                  <a:srgbClr val="A56AE3"/>
                </a:solidFill>
              </a:rPr>
              <a:t>TRAZABILIDAD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7B6A9A-10D7-424A-8B13-17721356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0334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52B"/>
                </a:solidFill>
              </a:defRPr>
            </a:pPr>
            <a:r>
              <a:rPr sz="2850" b="1">
                <a:solidFill>
                  <a:srgbClr val="20252B"/>
                </a:solidFill>
              </a:rPr>
              <a:t>El historial conecta cada análisis con su paciente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87016-3DFD-4732-8105-8AA74FCE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0175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6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FFE504-A18E-4C1E-AF78-F5794C12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17C"/>
                </a:solidFill>
              </a:defRPr>
            </a:pPr>
            <a:r>
              <a:rPr sz="1350" b="1">
                <a:solidFill>
                  <a:srgbClr val="66717C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B70AD-79DD-406B-9DA1-7B0F23EF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495425"/>
            <a:ext cx="1866900" cy="396240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71B20"/>
          </a:solidFill>
          <a:ln xmlns:a="http://schemas.openxmlformats.org/drawingml/2006/main" w="11430">
            <a:solidFill>
              <a:srgbClr val="171B2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b00c6764894d6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85875" y="1571625"/>
            <a:ext cx="1714500" cy="38100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CB5A3-A51C-49F3-8A3D-42E5AF28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1638300"/>
            <a:ext cx="4191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0060EC-7529-4C65-8634-396BF378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495425"/>
            <a:ext cx="1866900" cy="396240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71B20"/>
          </a:solidFill>
          <a:ln xmlns:a="http://schemas.openxmlformats.org/drawingml/2006/main" w="11430">
            <a:solidFill>
              <a:srgbClr val="171B2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451334e3fc425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43375" y="1571625"/>
            <a:ext cx="1714500" cy="38100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513E1B-B343-4A9B-B0AB-7ACCCFE4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638300"/>
            <a:ext cx="4191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417828-F1B2-48FC-A34A-526DB2D4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954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D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35A9B0-19CF-4335-B845-8E5DCC16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09750"/>
            <a:ext cx="3448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52B"/>
                </a:solidFill>
              </a:defRPr>
            </a:pPr>
            <a:r>
              <a:rPr sz="1875" b="0">
                <a:solidFill>
                  <a:srgbClr val="20252B"/>
                </a:solidFill>
              </a:rPr>
              <a:t>Historial local con imagen y resultado.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217843-1FF8-449C-BDD4-8B6C191A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955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D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431A55-7F02-4AC2-8005-C67658F5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09850"/>
            <a:ext cx="3448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52B"/>
                </a:solidFill>
              </a:defRPr>
            </a:pPr>
            <a:r>
              <a:rPr sz="1875" b="0">
                <a:solidFill>
                  <a:srgbClr val="20252B"/>
                </a:solidFill>
              </a:rPr>
              <a:t>Código de paciente para recuperar su recorrido.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DB9DBE-83E5-414F-B9E6-E84B9FD7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956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D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55A87F-DEEF-4006-BB6A-43A8F268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09950"/>
            <a:ext cx="3448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52B"/>
                </a:solidFill>
              </a:defRPr>
            </a:pPr>
            <a:r>
              <a:rPr sz="1875" b="0">
                <a:solidFill>
                  <a:srgbClr val="20252B"/>
                </a:solidFill>
              </a:rPr>
              <a:t>Sincronización segura para usuarios con cuenta.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55DB25-F913-4F2A-A341-D1B0B671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957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D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D8B400-965C-4BDD-9D98-ED3A6E9A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10050"/>
            <a:ext cx="3448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52B"/>
                </a:solidFill>
              </a:defRPr>
            </a:pPr>
            <a:r>
              <a:rPr sz="1875" b="0">
                <a:solidFill>
                  <a:srgbClr val="20252B"/>
                </a:solidFill>
              </a:rPr>
              <a:t>Acceso limitado al propietario de los datos.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26397ab4b24487"/>
          <a:stretch xmlns:a="http://schemas.openxmlformats.org/drawingml/2006/main"/>
        </p:blipFill>
        <p:spPr>
          <a:xfrm xmlns:a="http://schemas.openxmlformats.org/drawingml/2006/main">
            <a:off x="666750" y="63341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168692-19BF-4EEB-9743-9AABD6A8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324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7C"/>
                </a:solidFill>
              </a:defRPr>
            </a:pPr>
            <a:r>
              <a:rPr sz="1350" b="0">
                <a:solidFill>
                  <a:srgbClr val="66717C"/>
                </a:solidFill>
              </a:rPr>
              <a:t>Prototipo académico · No diagnóstico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CF699B-3109-4661-9D2A-C1976F06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17C"/>
                </a:solidFill>
              </a:defRPr>
            </a:pPr>
            <a:r>
              <a:rPr sz="1350" b="0">
                <a:solidFill>
                  <a:srgbClr val="66717C"/>
                </a:solidFill>
              </a:rPr>
              <a:t>9 / 16</a:t>
            </a:r>
          </a:p>
        </p:txBody>
      </p:sp>
    </p:spTree>
    <p:extLst>
      <p:ext uri="{BB962C8B-B14F-4D97-AF65-F5344CB8AC3E}">
        <p14:creationId xmlns:p14="http://schemas.microsoft.com/office/powerpoint/2010/main" val="14466510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50FD61-9B2A-4009-8403-5425880D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56AE3"/>
                </a:solidFill>
              </a:defRPr>
            </a:pPr>
            <a:r>
              <a:rPr sz="1350" b="1">
                <a:solidFill>
                  <a:srgbClr val="A56AE3"/>
                </a:solidFill>
              </a:rPr>
              <a:t>TECNOLOGÍA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45005-5685-40DD-AE1E-A81F35D5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0334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52B"/>
                </a:solidFill>
              </a:defRPr>
            </a:pPr>
            <a:r>
              <a:rPr sz="2850" b="1">
                <a:solidFill>
                  <a:srgbClr val="20252B"/>
                </a:solidFill>
              </a:rPr>
              <a:t>La arquitectura separa experiencia, lógica, IA y nube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05D0A-E034-4F21-B17C-2468316D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0175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6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CEF049-48E7-44EC-9403-1DDE846B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17C"/>
                </a:solidFill>
              </a:defRPr>
            </a:pPr>
            <a:r>
              <a:rPr sz="1350" b="1">
                <a:solidFill>
                  <a:srgbClr val="66717C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D75AB2-1BB4-4950-A4BE-0E98DD86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22383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4EEFB"/>
          </a:solidFill>
          <a:ln xmlns:a="http://schemas.openxmlformats.org/drawingml/2006/main" w="11430">
            <a:solidFill>
              <a:srgbClr val="DDE5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EEE61-5DB2-4F62-8755-C09AC942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81200"/>
            <a:ext cx="1895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56AE3"/>
                </a:solidFill>
              </a:defRPr>
            </a:pPr>
            <a:r>
              <a:rPr sz="1275" b="1">
                <a:solidFill>
                  <a:srgbClr val="A56AE3"/>
                </a:solidFill>
              </a:rPr>
              <a:t>INTERFAZ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28790-39CC-4692-B6AD-AB016541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66950"/>
            <a:ext cx="18954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52B"/>
                </a:solidFill>
              </a:defRPr>
            </a:pPr>
            <a:r>
              <a:rPr sz="1350" b="1">
                <a:solidFill>
                  <a:srgbClr val="20252B"/>
                </a:solidFill>
              </a:rPr>
              <a:t>Compose</a:t>
            </a:r>
          </a:p>
          <a:p xmlns:a="http://schemas.openxmlformats.org/drawingml/2006/main">
            <a:pPr algn="l">
              <a:defRPr sz="1350" b="1">
                <a:solidFill>
                  <a:srgbClr val="20252B"/>
                </a:solidFill>
              </a:defRPr>
            </a:pPr>
            <a:r>
              <a:rPr sz="1350" b="1">
                <a:solidFill>
                  <a:srgbClr val="20252B"/>
                </a:solidFill>
              </a:rPr>
              <a:t>Multiplatform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7695D5-84C4-43B7-AF6E-314FD3D5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57375"/>
            <a:ext cx="22383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11430">
            <a:solidFill>
              <a:srgbClr val="DDE5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EE3ECD-8431-4FA5-B211-FDDD768F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981200"/>
            <a:ext cx="1895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52B"/>
                </a:solidFill>
              </a:defRPr>
            </a:pPr>
            <a:r>
              <a:rPr sz="1275" b="1">
                <a:solidFill>
                  <a:srgbClr val="20252B"/>
                </a:solidFill>
              </a:rPr>
              <a:t>DOMINIO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D958CA-F5D0-4150-9620-86771924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266950"/>
            <a:ext cx="18954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52B"/>
                </a:solidFill>
              </a:defRPr>
            </a:pPr>
            <a:r>
              <a:rPr sz="1350" b="1">
                <a:solidFill>
                  <a:srgbClr val="20252B"/>
                </a:solidFill>
              </a:rPr>
              <a:t>Clean Architecture</a:t>
            </a:r>
          </a:p>
          <a:p xmlns:a="http://schemas.openxmlformats.org/drawingml/2006/main">
            <a:pPr algn="l">
              <a:defRPr sz="1350" b="1">
                <a:solidFill>
                  <a:srgbClr val="20252B"/>
                </a:solidFill>
              </a:defRPr>
            </a:pPr>
            <a:r>
              <a:rPr sz="1350" b="1">
                <a:solidFill>
                  <a:srgbClr val="20252B"/>
                </a:solidFill>
              </a:rPr>
              <a:t>+ MVVM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BD2EF7-A7F7-4745-9136-571282CC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57375"/>
            <a:ext cx="22383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7FE"/>
          </a:solidFill>
          <a:ln xmlns:a="http://schemas.openxmlformats.org/drawingml/2006/main" w="11430">
            <a:solidFill>
              <a:srgbClr val="DDE5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7313E1-0327-45CF-8824-95774F3D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1895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A7F0"/>
                </a:solidFill>
              </a:defRPr>
            </a:pPr>
            <a:r>
              <a:rPr sz="1275" b="1">
                <a:solidFill>
                  <a:srgbClr val="2FA7F0"/>
                </a:solidFill>
              </a:rPr>
              <a:t>IA ON-DEVICE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340D02-4CF4-4C7C-8909-B2978E62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66950"/>
            <a:ext cx="18954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52B"/>
                </a:solidFill>
              </a:defRPr>
            </a:pPr>
            <a:r>
              <a:rPr sz="1350" b="1">
                <a:solidFill>
                  <a:srgbClr val="20252B"/>
                </a:solidFill>
              </a:rPr>
              <a:t>YOLO11s-seg</a:t>
            </a:r>
          </a:p>
          <a:p xmlns:a="http://schemas.openxmlformats.org/drawingml/2006/main">
            <a:pPr algn="l">
              <a:defRPr sz="1350" b="1">
                <a:solidFill>
                  <a:srgbClr val="20252B"/>
                </a:solidFill>
              </a:defRPr>
            </a:pPr>
            <a:r>
              <a:rPr sz="1350" b="1">
                <a:solidFill>
                  <a:srgbClr val="20252B"/>
                </a:solidFill>
              </a:rPr>
              <a:t>+ ONNX Runtime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8D726D-9588-4D60-9EB6-6DC26777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57375"/>
            <a:ext cx="22383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11430">
            <a:solidFill>
              <a:srgbClr val="DDE5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B3FEB0-64F4-46D6-BB45-97334246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981200"/>
            <a:ext cx="1895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D38A"/>
                </a:solidFill>
              </a:defRPr>
            </a:pPr>
            <a:r>
              <a:rPr sz="1275" b="1">
                <a:solidFill>
                  <a:srgbClr val="2FD38A"/>
                </a:solidFill>
              </a:rPr>
              <a:t>DATOS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B9C9A0-DF16-48A6-8646-25E35CCA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266950"/>
            <a:ext cx="18954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52B"/>
                </a:solidFill>
              </a:defRPr>
            </a:pPr>
            <a:r>
              <a:rPr sz="1350" b="1">
                <a:solidFill>
                  <a:srgbClr val="20252B"/>
                </a:solidFill>
              </a:rPr>
              <a:t>Firebase</a:t>
            </a:r>
          </a:p>
          <a:p xmlns:a="http://schemas.openxmlformats.org/drawingml/2006/main">
            <a:pPr algn="l">
              <a:defRPr sz="1350" b="1">
                <a:solidFill>
                  <a:srgbClr val="20252B"/>
                </a:solidFill>
              </a:defRPr>
            </a:pPr>
            <a:r>
              <a:rPr sz="1350" b="1">
                <a:solidFill>
                  <a:srgbClr val="20252B"/>
                </a:solidFill>
              </a:rPr>
              <a:t>+ reglas por propietario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3572D8-7B7B-4723-ACBB-DCC86DCC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2098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717C"/>
                </a:solidFill>
              </a:defRPr>
            </a:pPr>
            <a:r>
              <a:rPr sz="2100" b="1">
                <a:solidFill>
                  <a:srgbClr val="66717C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2E826A-EE8E-4C53-8C24-00F1939A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098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717C"/>
                </a:solidFill>
              </a:defRPr>
            </a:pPr>
            <a:r>
              <a:rPr sz="2100" b="1">
                <a:solidFill>
                  <a:srgbClr val="66717C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0FFFB0-5FE4-41E4-9481-1DC2B00A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098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717C"/>
                </a:solidFill>
              </a:defRPr>
            </a:pPr>
            <a:r>
              <a:rPr sz="2100" b="1">
                <a:solidFill>
                  <a:srgbClr val="66717C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204A53-46F3-4F01-9024-F040A2EB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100965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D5B713-E01A-4914-85E7-BC0793F7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7190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252B"/>
                </a:solidFill>
              </a:defRPr>
            </a:pPr>
            <a:r>
              <a:rPr sz="2025" b="1">
                <a:solidFill>
                  <a:srgbClr val="20252B"/>
                </a:solidFill>
              </a:rPr>
              <a:t>Kotlin Multiplatform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060326-DBE5-47B6-98C3-6D5562D8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481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C"/>
                </a:solidFill>
              </a:defRPr>
            </a:pPr>
            <a:r>
              <a:rPr sz="1575" b="0">
                <a:solidFill>
                  <a:srgbClr val="66717C"/>
                </a:solidFill>
              </a:rPr>
              <a:t>Un único núcleo para Android y macOS.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1969F4-E24C-40F1-8CAE-E6225593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7190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252B"/>
                </a:solidFill>
              </a:defRPr>
            </a:pPr>
            <a:r>
              <a:rPr sz="2025" b="1">
                <a:solidFill>
                  <a:srgbClr val="20252B"/>
                </a:solidFill>
              </a:rPr>
              <a:t>Privacidad por diseño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84271E-53CF-4035-B42E-37B3475E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481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C"/>
                </a:solidFill>
              </a:defRPr>
            </a:pPr>
            <a:r>
              <a:rPr sz="1575" b="0">
                <a:solidFill>
                  <a:srgbClr val="66717C"/>
                </a:solidFill>
              </a:rPr>
              <a:t>La imagen se procesa en el dispositivo.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c9cba6543d429e"/>
          <a:stretch xmlns:a="http://schemas.openxmlformats.org/drawingml/2006/main"/>
        </p:blipFill>
        <p:spPr>
          <a:xfrm xmlns:a="http://schemas.openxmlformats.org/drawingml/2006/main">
            <a:off x="666750" y="63341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9F02C5-626F-4066-B172-37116EFA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324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7C"/>
                </a:solidFill>
              </a:defRPr>
            </a:pPr>
            <a:r>
              <a:rPr sz="1350" b="0">
                <a:solidFill>
                  <a:srgbClr val="66717C"/>
                </a:solidFill>
              </a:rPr>
              <a:t>Prototipo académico · No diagnóstico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C0B54F-4068-4189-9B7D-CF1F11B9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17C"/>
                </a:solidFill>
              </a:defRPr>
            </a:pPr>
            <a:r>
              <a:rPr sz="1350" b="0">
                <a:solidFill>
                  <a:srgbClr val="66717C"/>
                </a:solidFill>
              </a:rPr>
              <a:t>10 / 16</a:t>
            </a:r>
          </a:p>
        </p:txBody>
      </p:sp>
    </p:spTree>
    <p:extLst>
      <p:ext uri="{BB962C8B-B14F-4D97-AF65-F5344CB8AC3E}">
        <p14:creationId xmlns:p14="http://schemas.microsoft.com/office/powerpoint/2010/main" val="19994223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9612AF-DA8D-45E6-B83B-8F196B1C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56AE3"/>
                </a:solidFill>
              </a:defRPr>
            </a:pPr>
            <a:r>
              <a:rPr sz="1350" b="1">
                <a:solidFill>
                  <a:srgbClr val="A56AE3"/>
                </a:solidFill>
              </a:rPr>
              <a:t>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FA1A2-5615-41A9-A318-994DA5A9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0334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52B"/>
                </a:solidFill>
              </a:defRPr>
            </a:pPr>
            <a:r>
              <a:rPr sz="2850" b="1">
                <a:solidFill>
                  <a:srgbClr val="20252B"/>
                </a:solidFill>
              </a:rPr>
              <a:t>El modelo cubre 14 clases y mantiene la revisión humana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0A56BD-C235-4671-A53D-0AEB4FA6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0175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6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58D06-4F3E-43E1-B6B7-2405565F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17C"/>
                </a:solidFill>
              </a:defRPr>
            </a:pPr>
            <a:r>
              <a:rPr sz="1350" b="1">
                <a:solidFill>
                  <a:srgbClr val="66717C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C2CE3-09A7-47FF-9352-E444DD8B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252B"/>
                </a:solidFill>
              </a:defRPr>
            </a:pPr>
            <a:r>
              <a:rPr sz="2250" b="1">
                <a:solidFill>
                  <a:srgbClr val="20252B"/>
                </a:solidFill>
              </a:rPr>
              <a:t>Foco: morfología leucocitaria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6DB77-D619-49FF-A2E3-313F2E36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94B65"/>
                </a:solidFill>
              </a:defRPr>
            </a:pPr>
            <a:r>
              <a:rPr sz="1500" b="1">
                <a:solidFill>
                  <a:srgbClr val="E94B65"/>
                </a:solidFill>
              </a:rPr>
              <a:t>CLASES CRÍTICAS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AC9FC-DE8C-400B-93E4-0C66E8D1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571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E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AB3B63-1F71-4BDA-A7A7-E46A035D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95575"/>
            <a:ext cx="1419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56AE3"/>
                </a:solidFill>
              </a:defRPr>
            </a:pPr>
            <a:r>
              <a:rPr sz="1050" b="1">
                <a:solidFill>
                  <a:srgbClr val="A56AE3"/>
                </a:solidFill>
              </a:rPr>
              <a:t>Blastos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54C9D0-19BA-4785-97DC-5CC691D7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667000"/>
            <a:ext cx="1571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E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89BFEA-B465-4B61-A3E5-2748D27B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695575"/>
            <a:ext cx="1419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56AE3"/>
                </a:solidFill>
              </a:defRPr>
            </a:pPr>
            <a:r>
              <a:rPr sz="1050" b="1">
                <a:solidFill>
                  <a:srgbClr val="A56AE3"/>
                </a:solidFill>
              </a:rPr>
              <a:t>Promielocitos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EEA260-E1D3-4305-9FDC-931D68DE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67000"/>
            <a:ext cx="1571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E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3340EC-D538-4A75-ABF2-70259219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95575"/>
            <a:ext cx="1419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56AE3"/>
                </a:solidFill>
              </a:defRPr>
            </a:pPr>
            <a:r>
              <a:rPr sz="1050" b="1">
                <a:solidFill>
                  <a:srgbClr val="A56AE3"/>
                </a:solidFill>
              </a:rPr>
              <a:t>Mielocitos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E20D43-015B-4240-95A7-96AC038A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571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E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364458-243F-4FB2-AFE8-4B1FCD69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1419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56AE3"/>
                </a:solidFill>
              </a:defRPr>
            </a:pPr>
            <a:r>
              <a:rPr sz="1050" b="1">
                <a:solidFill>
                  <a:srgbClr val="A56AE3"/>
                </a:solidFill>
              </a:rPr>
              <a:t>Metamielocitos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0BC967-5D2F-4631-B3C5-1A6D2D7A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162300"/>
            <a:ext cx="1571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E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01F0F3-7615-4EEF-97A6-07DEB895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190875"/>
            <a:ext cx="1419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56AE3"/>
                </a:solidFill>
              </a:defRPr>
            </a:pPr>
            <a:r>
              <a:rPr sz="1050" b="1">
                <a:solidFill>
                  <a:srgbClr val="A56AE3"/>
                </a:solidFill>
              </a:rPr>
              <a:t>Linfocitos atípicos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34F4DB-8207-4ED4-B077-DAE28F87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A7F0"/>
                </a:solidFill>
              </a:defRPr>
            </a:pPr>
            <a:r>
              <a:rPr sz="1500" b="1">
                <a:solidFill>
                  <a:srgbClr val="2FA7F0"/>
                </a:solidFill>
              </a:rPr>
              <a:t>OTRAS CLASES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EBAE82-E135-457D-8582-A30D735C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14763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8723ED-EF4D-4E8A-8E07-53F384FE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95575"/>
            <a:ext cx="13239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A7F0"/>
                </a:solidFill>
              </a:defRPr>
            </a:pPr>
            <a:r>
              <a:rPr sz="1050" b="1">
                <a:solidFill>
                  <a:srgbClr val="2FA7F0"/>
                </a:solidFill>
              </a:rPr>
              <a:t>Neutrófilos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FDD7EC-A128-4326-893C-1C1D593D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67000"/>
            <a:ext cx="14763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10EB84-C606-4F0C-AE5B-21EABAC9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695575"/>
            <a:ext cx="13239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A7F0"/>
                </a:solidFill>
              </a:defRPr>
            </a:pPr>
            <a:r>
              <a:rPr sz="1050" b="1">
                <a:solidFill>
                  <a:srgbClr val="2FA7F0"/>
                </a:solidFill>
              </a:rPr>
              <a:t>Eosinófilos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E03D51-2016-4EBE-B145-E12311DB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7000"/>
            <a:ext cx="14763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053202-3FEC-4858-99E4-37F3FEAF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95575"/>
            <a:ext cx="13239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A7F0"/>
                </a:solidFill>
              </a:defRPr>
            </a:pPr>
            <a:r>
              <a:rPr sz="1050" b="1">
                <a:solidFill>
                  <a:srgbClr val="2FA7F0"/>
                </a:solidFill>
              </a:rPr>
              <a:t>Basófilos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4AE3ED-D3F7-460B-A414-18D1C908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62300"/>
            <a:ext cx="14763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8969AE-A751-4540-BDCB-CB47D078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90875"/>
            <a:ext cx="13239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A7F0"/>
                </a:solidFill>
              </a:defRPr>
            </a:pPr>
            <a:r>
              <a:rPr sz="1050" b="1">
                <a:solidFill>
                  <a:srgbClr val="2FA7F0"/>
                </a:solidFill>
              </a:rPr>
              <a:t>Linfocitos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A802BE-5B82-4CA2-B4C8-0816A28D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62300"/>
            <a:ext cx="14763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80F28E-9619-4D17-B830-1273A5B6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190875"/>
            <a:ext cx="13239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A7F0"/>
                </a:solidFill>
              </a:defRPr>
            </a:pPr>
            <a:r>
              <a:rPr sz="1050" b="1">
                <a:solidFill>
                  <a:srgbClr val="2FA7F0"/>
                </a:solidFill>
              </a:rPr>
              <a:t>Monocitos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4962FC-FF0A-45AB-AAF9-BB396A45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62300"/>
            <a:ext cx="14763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584EB4-2706-4BDF-9D27-5CB478F6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90875"/>
            <a:ext cx="13239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A7F0"/>
                </a:solidFill>
              </a:defRPr>
            </a:pPr>
            <a:r>
              <a:rPr sz="1050" b="1">
                <a:solidFill>
                  <a:srgbClr val="2FA7F0"/>
                </a:solidFill>
              </a:rPr>
              <a:t>Eritroblastos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5D7847-8CBD-4BBA-9F06-07B00191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57600"/>
            <a:ext cx="14763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DC7715-68CD-4976-9BF5-D31F06BB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86175"/>
            <a:ext cx="13239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A7F0"/>
                </a:solidFill>
              </a:defRPr>
            </a:pPr>
            <a:r>
              <a:rPr sz="1050" b="1">
                <a:solidFill>
                  <a:srgbClr val="2FA7F0"/>
                </a:solidFill>
              </a:rPr>
              <a:t>Plaquetas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0ADFB6-5B4F-4D7A-AC35-E2181ADB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57600"/>
            <a:ext cx="14763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841A45-EE26-44D3-AFE3-F9D12C07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686175"/>
            <a:ext cx="13239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A7F0"/>
                </a:solidFill>
              </a:defRPr>
            </a:pPr>
            <a:r>
              <a:rPr sz="1050" b="1">
                <a:solidFill>
                  <a:srgbClr val="2FA7F0"/>
                </a:solidFill>
              </a:rPr>
              <a:t>Artefactos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8891A4-9304-40A8-A5E7-44D29546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57600"/>
            <a:ext cx="14763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CD00C4-6706-4FD0-BCCE-5D886725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86175"/>
            <a:ext cx="13239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A7F0"/>
                </a:solidFill>
              </a:defRPr>
            </a:pPr>
            <a:r>
              <a:rPr sz="1050" b="1">
                <a:solidFill>
                  <a:srgbClr val="2FA7F0"/>
                </a:solidFill>
              </a:rPr>
              <a:t>Otros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FDA395-B215-47E9-BCAB-A0D87808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2870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2203CD-1E38-4C30-A361-404795C3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672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D38A"/>
                </a:solidFill>
              </a:defRPr>
            </a:pPr>
            <a:r>
              <a:rPr sz="1725" b="1">
                <a:solidFill>
                  <a:srgbClr val="2FD38A"/>
                </a:solidFill>
              </a:rPr>
              <a:t>Umbrales ajustados + confianza visible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6B9C3C-C6BE-440F-A83A-51239A08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95875"/>
            <a:ext cx="919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52B"/>
                </a:solidFill>
              </a:defRPr>
            </a:pPr>
            <a:r>
              <a:rPr sz="1425" b="0">
                <a:solidFill>
                  <a:srgbClr val="20252B"/>
                </a:solidFill>
              </a:rPr>
              <a:t>Los hallazgos dudosos se muestran para revisión humana. El modelo continúa en entrenamiento.</a:t>
            </a:r>
          </a:p>
        </p:txBody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dc21a83ef4414e"/>
          <a:stretch xmlns:a="http://schemas.openxmlformats.org/drawingml/2006/main"/>
        </p:blipFill>
        <p:spPr>
          <a:xfrm xmlns:a="http://schemas.openxmlformats.org/drawingml/2006/main">
            <a:off x="666750" y="63341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9B1D14-2E78-41B5-837B-43CBA33A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324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7C"/>
                </a:solidFill>
              </a:defRPr>
            </a:pPr>
            <a:r>
              <a:rPr sz="1350" b="0">
                <a:solidFill>
                  <a:srgbClr val="66717C"/>
                </a:solidFill>
              </a:rPr>
              <a:t>Prototipo académico · No diagnóstico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86C0B3-E8C9-44B1-99A3-20136063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17C"/>
                </a:solidFill>
              </a:defRPr>
            </a:pPr>
            <a:r>
              <a:rPr sz="1350" b="0">
                <a:solidFill>
                  <a:srgbClr val="66717C"/>
                </a:solidFill>
              </a:rPr>
              <a:t>11 / 16</a:t>
            </a:r>
          </a:p>
        </p:txBody>
      </p:sp>
    </p:spTree>
    <p:extLst>
      <p:ext uri="{BB962C8B-B14F-4D97-AF65-F5344CB8AC3E}">
        <p14:creationId xmlns:p14="http://schemas.microsoft.com/office/powerpoint/2010/main" val="839058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F4F7FE-684B-4614-8A7D-DDF1D83F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56AE3"/>
                </a:solidFill>
              </a:defRPr>
            </a:pPr>
            <a:r>
              <a:rPr sz="1350" b="1">
                <a:solidFill>
                  <a:srgbClr val="A56AE3"/>
                </a:solidFill>
              </a:rPr>
              <a:t>PLATAFORMA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728E95-4894-410A-BC59-4E7FB5C4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0334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52B"/>
                </a:solidFill>
              </a:defRPr>
            </a:pPr>
            <a:r>
              <a:rPr sz="2850" b="1">
                <a:solidFill>
                  <a:srgbClr val="20252B"/>
                </a:solidFill>
              </a:rPr>
              <a:t>La modularidad permite crecer sin rehacer la aplicación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15A56-CEE4-4C72-8D01-24DD6A6F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0175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6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B4AA0-3F3B-41C5-B7DD-EAA0CB69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17C"/>
                </a:solidFill>
              </a:defRPr>
            </a:pPr>
            <a:r>
              <a:rPr sz="1350" b="1">
                <a:solidFill>
                  <a:srgbClr val="66717C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4714B-DF19-4965-9C70-E4BF0C9D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95500"/>
            <a:ext cx="2952750" cy="1762125"/>
          </a:xfrm>
          <a:prstGeom xmlns:a="http://schemas.openxmlformats.org/drawingml/2006/main" prst="roundRect">
            <a:avLst>
              <a:gd name="adj" fmla="val 8649"/>
            </a:avLst>
          </a:prstGeom>
          <a:solidFill xmlns:a="http://schemas.openxmlformats.org/drawingml/2006/main">
            <a:srgbClr val="F4EEFB"/>
          </a:solidFill>
          <a:ln xmlns:a="http://schemas.openxmlformats.org/drawingml/2006/main" w="11430">
            <a:solidFill>
              <a:srgbClr val="A56A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a473144a441c8"/>
          <a:stretch xmlns:a="http://schemas.openxmlformats.org/drawingml/2006/main"/>
        </p:blipFill>
        <p:spPr>
          <a:xfrm xmlns:a="http://schemas.openxmlformats.org/drawingml/2006/main">
            <a:off x="5476875" y="2305050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F0CA08-44C5-4FA7-8226-16B29022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5433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56AE3"/>
                </a:solidFill>
              </a:defRPr>
            </a:pPr>
            <a:r>
              <a:rPr sz="1500" b="1">
                <a:solidFill>
                  <a:srgbClr val="A56AE3"/>
                </a:solidFill>
              </a:rPr>
              <a:t>NÚCLEO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F0128-6B97-4329-844A-9F4EFDD8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14500"/>
            <a:ext cx="271462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5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25A3D6-FE0F-4926-A290-66ADFBB2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14500"/>
            <a:ext cx="76200" cy="1095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D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11FB90-9E00-4541-B77D-AB451BCC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905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D38A"/>
                </a:solidFill>
              </a:defRPr>
            </a:pPr>
            <a:r>
              <a:rPr sz="1500" b="1">
                <a:solidFill>
                  <a:srgbClr val="2FD38A"/>
                </a:solidFill>
              </a:rPr>
              <a:t>MVP ACTIVO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36C078-3390-4372-AA48-1E8E0537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200275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52B"/>
                </a:solidFill>
              </a:defRPr>
            </a:pPr>
            <a:r>
              <a:rPr sz="1950" b="1">
                <a:solidFill>
                  <a:srgbClr val="20252B"/>
                </a:solidFill>
              </a:rPr>
              <a:t>Cribado celular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92FB38-456D-4419-9110-11C29682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14500"/>
            <a:ext cx="271462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5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1A4331-0C68-43F1-A403-389C9B78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14500"/>
            <a:ext cx="76200" cy="1095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A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BF1D9A-0EAA-4373-BE1F-45F15E5C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905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A7F0"/>
                </a:solidFill>
              </a:defRPr>
            </a:pPr>
            <a:r>
              <a:rPr sz="1500" b="1">
                <a:solidFill>
                  <a:srgbClr val="2FA7F0"/>
                </a:solidFill>
              </a:rPr>
              <a:t>SIGUIENTE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8AC757-12A1-46CA-BF55-9CE70CCC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200275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52B"/>
                </a:solidFill>
              </a:defRPr>
            </a:pPr>
            <a:r>
              <a:rPr sz="1950" b="1">
                <a:solidFill>
                  <a:srgbClr val="20252B"/>
                </a:solidFill>
              </a:rPr>
              <a:t>Más tipos celulares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597461-01EA-4CED-B62F-5357683F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43375"/>
            <a:ext cx="271462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5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E33EFA-44DB-4F54-AF4E-32115552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43375"/>
            <a:ext cx="76200" cy="1095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6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D14514-4EC1-4DA3-AB2B-A672B736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3338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56AE3"/>
                </a:solidFill>
              </a:defRPr>
            </a:pPr>
            <a:r>
              <a:rPr sz="1500" b="1">
                <a:solidFill>
                  <a:srgbClr val="A56AE3"/>
                </a:solidFill>
              </a:rPr>
              <a:t>FUTURO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1AE9E4-5A79-4441-8A3C-FC8C6AAE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62915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52B"/>
                </a:solidFill>
              </a:defRPr>
            </a:pPr>
            <a:r>
              <a:rPr sz="1950" b="1">
                <a:solidFill>
                  <a:srgbClr val="20252B"/>
                </a:solidFill>
              </a:rPr>
              <a:t>Más patologías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2F5A22-E6D7-45C4-B3E7-B2AE1684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43375"/>
            <a:ext cx="271462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5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8D06D9-1726-4A22-9E00-0C3662FD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43375"/>
            <a:ext cx="76200" cy="1095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6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497489-CB4D-4B5A-A410-B5835F56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3338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56AE3"/>
                </a:solidFill>
              </a:defRPr>
            </a:pPr>
            <a:r>
              <a:rPr sz="1500" b="1">
                <a:solidFill>
                  <a:srgbClr val="A56AE3"/>
                </a:solidFill>
              </a:rPr>
              <a:t>FUTURO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429E6A-92D2-4D6D-9F13-E1F34F4E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62915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52B"/>
                </a:solidFill>
              </a:defRPr>
            </a:pPr>
            <a:r>
              <a:rPr sz="1950" b="1">
                <a:solidFill>
                  <a:srgbClr val="20252B"/>
                </a:solidFill>
              </a:rPr>
              <a:t>Docencia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720E6F-EDD0-4C86-A4A6-2F713DA5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00062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252B"/>
                </a:solidFill>
              </a:defRPr>
            </a:pPr>
            <a:r>
              <a:rPr sz="2100" b="1">
                <a:solidFill>
                  <a:srgbClr val="20252B"/>
                </a:solidFill>
              </a:rPr>
              <a:t>Cada incremento puede validarse por separado.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1a335129994f63"/>
          <a:stretch xmlns:a="http://schemas.openxmlformats.org/drawingml/2006/main"/>
        </p:blipFill>
        <p:spPr>
          <a:xfrm xmlns:a="http://schemas.openxmlformats.org/drawingml/2006/main">
            <a:off x="666750" y="63341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9381FC-2136-4353-91D2-714C0A0D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324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7C"/>
                </a:solidFill>
              </a:defRPr>
            </a:pPr>
            <a:r>
              <a:rPr sz="1350" b="0">
                <a:solidFill>
                  <a:srgbClr val="66717C"/>
                </a:solidFill>
              </a:rPr>
              <a:t>Prototipo académico · No diagnóstico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48E787-1E41-4CB4-AA76-4C81E371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17C"/>
                </a:solidFill>
              </a:defRPr>
            </a:pPr>
            <a:r>
              <a:rPr sz="1350" b="0">
                <a:solidFill>
                  <a:srgbClr val="66717C"/>
                </a:solidFill>
              </a:rPr>
              <a:t>12 / 16</a:t>
            </a:r>
          </a:p>
        </p:txBody>
      </p:sp>
    </p:spTree>
    <p:extLst>
      <p:ext uri="{BB962C8B-B14F-4D97-AF65-F5344CB8AC3E}">
        <p14:creationId xmlns:p14="http://schemas.microsoft.com/office/powerpoint/2010/main" val="20900956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97B974-D860-4F87-B765-C437907A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56AE3"/>
                </a:solidFill>
              </a:defRPr>
            </a:pPr>
            <a:r>
              <a:rPr sz="1350" b="1">
                <a:solidFill>
                  <a:srgbClr val="A56AE3"/>
                </a:solidFill>
              </a:rPr>
              <a:t>DOCENCIA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83D56-AA68-439F-92AD-18C4D0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0334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52B"/>
                </a:solidFill>
              </a:defRPr>
            </a:pPr>
            <a:r>
              <a:rPr sz="2850" b="1">
                <a:solidFill>
                  <a:srgbClr val="20252B"/>
                </a:solidFill>
              </a:rPr>
              <a:t>El próximo módulo llevará el reconocimiento celular al aula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DF852-1BA0-4CE1-83BC-F66CB119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0175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6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147140-B065-4A98-B923-9960D3A4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17C"/>
                </a:solidFill>
              </a:defRPr>
            </a:pPr>
            <a:r>
              <a:rPr sz="1350" b="1">
                <a:solidFill>
                  <a:srgbClr val="66717C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512E99-AF06-47EC-A7E3-648179E3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5762625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4EEF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d4eeab7adc4751"/>
          <a:stretch xmlns:a="http://schemas.openxmlformats.org/drawingml/2006/main"/>
        </p:blipFill>
        <p:spPr>
          <a:xfrm xmlns:a="http://schemas.openxmlformats.org/drawingml/2006/main">
            <a:off x="2015056" y="1952625"/>
            <a:ext cx="2827889" cy="2857500"/>
          </a:xfrm>
          <a:prstGeom xmlns:a="http://schemas.openxmlformats.org/drawingml/2006/main" prst="roundRect">
            <a:avLst>
              <a:gd name="adj" fmla="val 5000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F50E7-7A92-4EB5-AFB2-16EBE26B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57750"/>
            <a:ext cx="3429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41F044-84EE-4B61-BCBE-EBE770C0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886325"/>
            <a:ext cx="327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56AE3"/>
                </a:solidFill>
              </a:defRPr>
            </a:pPr>
            <a:r>
              <a:rPr sz="1500" b="1">
                <a:solidFill>
                  <a:srgbClr val="A56AE3"/>
                </a:solidFill>
              </a:rPr>
              <a:t>CONCEPTO · NO DISPONIBLE AÚN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38B900-3FBD-4A8E-95D5-DC4157F4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0975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52B"/>
                </a:solidFill>
              </a:defRPr>
            </a:pPr>
            <a:r>
              <a:rPr sz="2850" b="1">
                <a:solidFill>
                  <a:srgbClr val="20252B"/>
                </a:solidFill>
              </a:rPr>
              <a:t>Modo formación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1AA67E-8831-47C9-9EE6-C278E13D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527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6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831ADC-C8DB-40E3-89BF-F5391481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667000"/>
            <a:ext cx="3733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52B"/>
                </a:solidFill>
              </a:defRPr>
            </a:pPr>
            <a:r>
              <a:rPr sz="1950" b="0">
                <a:solidFill>
                  <a:srgbClr val="20252B"/>
                </a:solidFill>
              </a:rPr>
              <a:t>Practicar la identificación celular.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D9BD69-C8E6-4451-B9C7-EF2C71F3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385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6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565597-4344-498B-BCEF-5551A902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352800"/>
            <a:ext cx="3733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52B"/>
                </a:solidFill>
              </a:defRPr>
            </a:pPr>
            <a:r>
              <a:rPr sz="1950" b="0">
                <a:solidFill>
                  <a:srgbClr val="20252B"/>
                </a:solidFill>
              </a:rPr>
              <a:t>Aprender patrones morfológicos.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C47715-94AD-4BA4-85C8-73AB737A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1243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6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68498D-0F3E-441B-A254-6496A893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038600"/>
            <a:ext cx="3733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52B"/>
                </a:solidFill>
              </a:defRPr>
            </a:pPr>
            <a:r>
              <a:rPr sz="1950" b="0">
                <a:solidFill>
                  <a:srgbClr val="20252B"/>
                </a:solidFill>
              </a:rPr>
              <a:t>Entrenar el ojo con apoyo de la herramienta.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98E5F2-6A6F-4939-95E4-555C9052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101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6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DEC3D6-28E8-4403-96B2-C67430C4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724400"/>
            <a:ext cx="3733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52B"/>
                </a:solidFill>
              </a:defRPr>
            </a:pPr>
            <a:r>
              <a:rPr sz="1950" b="0">
                <a:solidFill>
                  <a:srgbClr val="20252B"/>
                </a:solidFill>
              </a:rPr>
              <a:t>Unir asistencia clínica y docencia.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955c9aaac3418d"/>
          <a:stretch xmlns:a="http://schemas.openxmlformats.org/drawingml/2006/main"/>
        </p:blipFill>
        <p:spPr>
          <a:xfrm xmlns:a="http://schemas.openxmlformats.org/drawingml/2006/main">
            <a:off x="666750" y="63341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3BECEB-B991-4C62-BD6A-D2A1EF91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324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7C"/>
                </a:solidFill>
              </a:defRPr>
            </a:pPr>
            <a:r>
              <a:rPr sz="1350" b="0">
                <a:solidFill>
                  <a:srgbClr val="66717C"/>
                </a:solidFill>
              </a:rPr>
              <a:t>Prototipo académico · No diagnóstico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B716EC-E5F7-4A36-A048-C420FDE3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17C"/>
                </a:solidFill>
              </a:defRPr>
            </a:pPr>
            <a:r>
              <a:rPr sz="1350" b="0">
                <a:solidFill>
                  <a:srgbClr val="66717C"/>
                </a:solidFill>
              </a:rPr>
              <a:t>13 / 16</a:t>
            </a:r>
          </a:p>
        </p:txBody>
      </p:sp>
    </p:spTree>
    <p:extLst>
      <p:ext uri="{BB962C8B-B14F-4D97-AF65-F5344CB8AC3E}">
        <p14:creationId xmlns:p14="http://schemas.microsoft.com/office/powerpoint/2010/main" val="18301967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6B95B9-D6A2-4FB4-99E9-1EFDF6AA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56AE3"/>
                </a:solidFill>
              </a:defRPr>
            </a:pPr>
            <a:r>
              <a:rPr sz="1350" b="1">
                <a:solidFill>
                  <a:srgbClr val="A56AE3"/>
                </a:solidFill>
              </a:rPr>
              <a:t>PRÓXIMOS PASOS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20C75-1736-4D70-92BA-D15909B3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0334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52B"/>
                </a:solidFill>
              </a:defRPr>
            </a:pPr>
            <a:r>
              <a:rPr sz="2850" b="1">
                <a:solidFill>
                  <a:srgbClr val="20252B"/>
                </a:solidFill>
              </a:rPr>
              <a:t>El roadmap amplía escala, precisión y alcance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1232C-49D4-42B0-9DE6-0162109A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0175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6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4DC80-FFB4-42BB-B8C1-A8DDA02E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17C"/>
                </a:solidFill>
              </a:defRPr>
            </a:pPr>
            <a:r>
              <a:rPr sz="1350" b="1">
                <a:solidFill>
                  <a:srgbClr val="66717C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219E9-6E60-4706-B4E3-7D22992A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95625"/>
            <a:ext cx="94297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89AEA8-5B27-41BB-B0DF-643779A1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81300"/>
            <a:ext cx="6667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FD3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B398C5-E3D4-4D15-9AE5-E1EDF5B4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8956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D38A"/>
                </a:solidFill>
              </a:defRPr>
            </a:pPr>
            <a:r>
              <a:rPr sz="2100" b="1">
                <a:solidFill>
                  <a:srgbClr val="2FD38A"/>
                </a:solidFill>
              </a:rPr>
              <a:t>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36D543-8AF6-40AA-9A9C-7D329B22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D38A"/>
                </a:solidFill>
              </a:defRPr>
            </a:pPr>
            <a:r>
              <a:rPr sz="1350" b="1">
                <a:solidFill>
                  <a:srgbClr val="2FD38A"/>
                </a:solidFill>
              </a:rPr>
              <a:t>EN DESARROLLO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9309E-ACEB-4592-920B-0452C92F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38625"/>
            <a:ext cx="158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B"/>
                </a:solidFill>
              </a:defRPr>
            </a:pPr>
            <a:r>
              <a:rPr sz="1800" b="1">
                <a:solidFill>
                  <a:srgbClr val="20252B"/>
                </a:solidFill>
              </a:rPr>
              <a:t>Entrenamiento continuo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918F91-05A8-4A0B-921E-27520299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17C"/>
                </a:solidFill>
              </a:defRPr>
            </a:pPr>
            <a:r>
              <a:rPr sz="1500" b="0">
                <a:solidFill>
                  <a:srgbClr val="66717C"/>
                </a:solidFill>
              </a:rPr>
              <a:t>Mejorar precisión y cobertura.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DDBAC0-C69F-4D4C-84FA-E678B862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81300"/>
            <a:ext cx="6667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FA7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B81ACB-5F4A-4967-86D9-31CEBFCC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8956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A7F0"/>
                </a:solidFill>
              </a:defRPr>
            </a:pPr>
            <a:r>
              <a:rPr sz="2100" b="1">
                <a:solidFill>
                  <a:srgbClr val="2FA7F0"/>
                </a:solidFill>
              </a:rPr>
              <a:t>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702278-3372-427F-A931-3ED3426E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671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A7F0"/>
                </a:solidFill>
              </a:defRPr>
            </a:pPr>
            <a:r>
              <a:rPr sz="1350" b="1">
                <a:solidFill>
                  <a:srgbClr val="2FA7F0"/>
                </a:solidFill>
              </a:rPr>
              <a:t>PLANIFICADO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F10AE1-5929-40A5-8D0C-49C30C8B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38625"/>
            <a:ext cx="158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B"/>
                </a:solidFill>
              </a:defRPr>
            </a:pPr>
            <a:r>
              <a:rPr sz="1800" b="1">
                <a:solidFill>
                  <a:srgbClr val="20252B"/>
                </a:solidFill>
              </a:rPr>
              <a:t>Lectura en bloque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2EE7C0-AAA5-4688-8E64-C263CBD9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5300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17C"/>
                </a:solidFill>
              </a:defRPr>
            </a:pPr>
            <a:r>
              <a:rPr sz="1500" b="0">
                <a:solidFill>
                  <a:srgbClr val="66717C"/>
                </a:solidFill>
              </a:rPr>
              <a:t>Procesar múltiples imágenes.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FEC9E3-8371-4DC5-B9BC-410179B9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6667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56A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A33C3B-AABF-484F-B806-74BC92A3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8956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56AE3"/>
                </a:solidFill>
              </a:defRPr>
            </a:pPr>
            <a:r>
              <a:rPr sz="2100" b="1">
                <a:solidFill>
                  <a:srgbClr val="A56AE3"/>
                </a:solidFill>
              </a:rPr>
              <a:t>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A0752F-6F5A-4B14-8643-958E82A6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671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56AE3"/>
                </a:solidFill>
              </a:defRPr>
            </a:pPr>
            <a:r>
              <a:rPr sz="1350" b="1">
                <a:solidFill>
                  <a:srgbClr val="A56AE3"/>
                </a:solidFill>
              </a:rPr>
              <a:t>PLANIFICADO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A2C5AE-3FCA-44C8-9A98-77028162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38625"/>
            <a:ext cx="158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B"/>
                </a:solidFill>
              </a:defRPr>
            </a:pPr>
            <a:r>
              <a:rPr sz="1800" b="1">
                <a:solidFill>
                  <a:srgbClr val="20252B"/>
                </a:solidFill>
              </a:rPr>
              <a:t>Nuevos módulos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2AD844-CD7C-40EC-9A2A-435D0093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5300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17C"/>
                </a:solidFill>
              </a:defRPr>
            </a:pPr>
            <a:r>
              <a:rPr sz="1500" b="0">
                <a:solidFill>
                  <a:srgbClr val="66717C"/>
                </a:solidFill>
              </a:rPr>
              <a:t>Más células y patologías.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CD28C0-E858-4316-B20E-261AAE28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81300"/>
            <a:ext cx="6667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56A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C01A9B-70AE-44CF-8C77-CA3B9751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8956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56AE3"/>
                </a:solidFill>
              </a:defRPr>
            </a:pPr>
            <a:r>
              <a:rPr sz="2100" b="1">
                <a:solidFill>
                  <a:srgbClr val="A56AE3"/>
                </a:solidFill>
              </a:rPr>
              <a:t>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7B86BC-AB83-460B-B233-490B8D65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671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56AE3"/>
                </a:solidFill>
              </a:defRPr>
            </a:pPr>
            <a:r>
              <a:rPr sz="1350" b="1">
                <a:solidFill>
                  <a:srgbClr val="A56AE3"/>
                </a:solidFill>
              </a:rPr>
              <a:t>PLANIFICADO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7DBF8C-FF10-400A-9BCA-ACEFFFD0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38625"/>
            <a:ext cx="158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52B"/>
                </a:solidFill>
              </a:defRPr>
            </a:pPr>
            <a:r>
              <a:rPr sz="1800" b="1">
                <a:solidFill>
                  <a:srgbClr val="20252B"/>
                </a:solidFill>
              </a:rPr>
              <a:t>Docencia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2DBF2C-3823-4BA8-BB3A-B86B718B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5300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17C"/>
                </a:solidFill>
              </a:defRPr>
            </a:pPr>
            <a:r>
              <a:rPr sz="1500" b="0">
                <a:solidFill>
                  <a:srgbClr val="66717C"/>
                </a:solidFill>
              </a:rPr>
              <a:t>Aprendizaje morfológico.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1ba82e1da4059"/>
          <a:stretch xmlns:a="http://schemas.openxmlformats.org/drawingml/2006/main"/>
        </p:blipFill>
        <p:spPr>
          <a:xfrm xmlns:a="http://schemas.openxmlformats.org/drawingml/2006/main">
            <a:off x="666750" y="63341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D13DE4-315A-442F-B1F3-ADD933FB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324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7C"/>
                </a:solidFill>
              </a:defRPr>
            </a:pPr>
            <a:r>
              <a:rPr sz="1350" b="0">
                <a:solidFill>
                  <a:srgbClr val="66717C"/>
                </a:solidFill>
              </a:rPr>
              <a:t>Prototipo académico · No diagnóstico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2D48B2-5027-45B9-8E9A-D578971C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17C"/>
                </a:solidFill>
              </a:defRPr>
            </a:pPr>
            <a:r>
              <a:rPr sz="1350" b="0">
                <a:solidFill>
                  <a:srgbClr val="66717C"/>
                </a:solidFill>
              </a:rPr>
              <a:t>14 / 16</a:t>
            </a:r>
          </a:p>
        </p:txBody>
      </p:sp>
    </p:spTree>
    <p:extLst>
      <p:ext uri="{BB962C8B-B14F-4D97-AF65-F5344CB8AC3E}">
        <p14:creationId xmlns:p14="http://schemas.microsoft.com/office/powerpoint/2010/main" val="187956934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DBA471-6DE8-4DA5-A5C1-21ABE0A8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56AE3"/>
                </a:solidFill>
              </a:defRPr>
            </a:pPr>
            <a:r>
              <a:rPr sz="1350" b="1">
                <a:solidFill>
                  <a:srgbClr val="A56AE3"/>
                </a:solidFill>
              </a:rPr>
              <a:t>EXPANSIÓN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40BDD-87A9-4436-8559-3AFA5A19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10334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52B"/>
                </a:solidFill>
              </a:defRPr>
            </a:pPr>
            <a:r>
              <a:rPr sz="2850" b="1">
                <a:solidFill>
                  <a:srgbClr val="20252B"/>
                </a:solidFill>
              </a:rPr>
              <a:t>Un mismo núcleo puede llegar a más plataformas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A16672-E93C-4503-AACF-E4C76E96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0175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6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7E18F-EE36-4353-83E8-190EFB67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17C"/>
                </a:solidFill>
              </a:defRPr>
            </a:pPr>
            <a:r>
              <a:rPr sz="1350" b="1">
                <a:solidFill>
                  <a:srgbClr val="66717C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9132F-6AB8-421F-AE6A-04BA7044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D38A"/>
                </a:solidFill>
              </a:defRPr>
            </a:pPr>
            <a:r>
              <a:rPr sz="1875" b="1">
                <a:solidFill>
                  <a:srgbClr val="2FD38A"/>
                </a:solidFill>
              </a:rPr>
              <a:t>MVP disponible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E637C1-06B1-4907-92D9-5A0DDC2D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2238375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11430">
            <a:solidFill>
              <a:srgbClr val="2FD3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FCF498-2915-4D4C-8C08-28B2803A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812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D38A"/>
                </a:solidFill>
              </a:defRPr>
            </a:pPr>
            <a:r>
              <a:rPr sz="2550" b="1">
                <a:solidFill>
                  <a:srgbClr val="2FD38A"/>
                </a:solidFill>
              </a:rPr>
              <a:t>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CC234D-2330-49FE-9158-03869FD4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71800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252B"/>
                </a:solidFill>
              </a:defRPr>
            </a:pPr>
            <a:r>
              <a:rPr sz="2175" b="1">
                <a:solidFill>
                  <a:srgbClr val="20252B"/>
                </a:solidFill>
              </a:rPr>
              <a:t>Android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9109F3-80A8-4588-A1A1-73EF6260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38375"/>
            <a:ext cx="2238375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11430">
            <a:solidFill>
              <a:srgbClr val="2FD38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13906D-AA70-48A4-8E63-18DB4E72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3812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D38A"/>
                </a:solidFill>
              </a:defRPr>
            </a:pPr>
            <a:r>
              <a:rPr sz="2550" b="1">
                <a:solidFill>
                  <a:srgbClr val="2FD38A"/>
                </a:solidFill>
              </a:rPr>
              <a:t>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554008-53A5-4CA4-BD43-04403F2F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971800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252B"/>
                </a:solidFill>
              </a:defRPr>
            </a:pPr>
            <a:r>
              <a:rPr sz="2175" b="1">
                <a:solidFill>
                  <a:srgbClr val="20252B"/>
                </a:solidFill>
              </a:rPr>
              <a:t>macOS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36485D-620F-4869-ADE4-F659B8F3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668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56AE3"/>
                </a:solidFill>
              </a:defRPr>
            </a:pPr>
            <a:r>
              <a:rPr sz="1875" b="1">
                <a:solidFill>
                  <a:srgbClr val="A56AE3"/>
                </a:solidFill>
              </a:rPr>
              <a:t>Extensión prevista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A4B6EB-2948-4C5F-86F2-6F1674C0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15240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11430">
            <a:solidFill>
              <a:srgbClr val="DDE5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EEE0B8-6ECB-4885-A96A-D84B5025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81250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6717C"/>
                </a:solidFill>
              </a:defRPr>
            </a:pPr>
            <a:r>
              <a:rPr sz="2550" b="1">
                <a:solidFill>
                  <a:srgbClr val="66717C"/>
                </a:solidFill>
              </a:rPr>
              <a:t>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87F7AE-1627-48D5-8EA6-92CE46E1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718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6717C"/>
                </a:solidFill>
              </a:defRPr>
            </a:pPr>
            <a:r>
              <a:rPr sz="2025" b="1">
                <a:solidFill>
                  <a:srgbClr val="66717C"/>
                </a:solidFill>
              </a:rPr>
              <a:t>iOS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068B84-713E-4D85-8A14-2C50D2D2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38375"/>
            <a:ext cx="15240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11430">
            <a:solidFill>
              <a:srgbClr val="DDE5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88129B-1C00-4912-BCF1-97A5EBD7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6717C"/>
                </a:solidFill>
              </a:defRPr>
            </a:pPr>
            <a:r>
              <a:rPr sz="2550" b="1">
                <a:solidFill>
                  <a:srgbClr val="66717C"/>
                </a:solidFill>
              </a:rPr>
              <a:t>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32607C-261E-40A7-A5B1-CE0EBE53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9718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6717C"/>
                </a:solidFill>
              </a:defRPr>
            </a:pPr>
            <a:r>
              <a:rPr sz="2025" b="1">
                <a:solidFill>
                  <a:srgbClr val="66717C"/>
                </a:solidFill>
              </a:rPr>
              <a:t>Windows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8CB696-D7B8-4F45-8AE8-B6D15884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38375"/>
            <a:ext cx="15240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11430">
            <a:solidFill>
              <a:srgbClr val="DDE5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C21784-6F44-4559-94BC-856A9294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381250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6717C"/>
                </a:solidFill>
              </a:defRPr>
            </a:pPr>
            <a:r>
              <a:rPr sz="2550" b="1">
                <a:solidFill>
                  <a:srgbClr val="66717C"/>
                </a:solidFill>
              </a:rPr>
              <a:t>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EADAF8-794B-4FCA-85C2-840C3E8A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718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6717C"/>
                </a:solidFill>
              </a:defRPr>
            </a:pPr>
            <a:r>
              <a:rPr sz="2025" b="1">
                <a:solidFill>
                  <a:srgbClr val="66717C"/>
                </a:solidFill>
              </a:rPr>
              <a:t>Linux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555CFE-BAC8-4760-BA60-FCB34459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0429875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7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1896B4-DA90-4662-827C-7A488F9B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720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252B"/>
                </a:solidFill>
              </a:defRPr>
            </a:pPr>
            <a:r>
              <a:rPr sz="2175" b="1">
                <a:solidFill>
                  <a:srgbClr val="20252B"/>
                </a:solidFill>
              </a:rPr>
              <a:t>Kotlin Multiplatform permite reutilizar el núcleo y reducir la duplicación de esfuerzo.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468eb41194335"/>
          <a:stretch xmlns:a="http://schemas.openxmlformats.org/drawingml/2006/main"/>
        </p:blipFill>
        <p:spPr>
          <a:xfrm xmlns:a="http://schemas.openxmlformats.org/drawingml/2006/main">
            <a:off x="666750" y="63341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6A9590-F9A3-45A4-97CF-C9D3AE6F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324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7C"/>
                </a:solidFill>
              </a:defRPr>
            </a:pPr>
            <a:r>
              <a:rPr sz="1350" b="0">
                <a:solidFill>
                  <a:srgbClr val="66717C"/>
                </a:solidFill>
              </a:rPr>
              <a:t>Prototipo académico · No diagnóstico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80DA67-2593-4F41-8455-59C58322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717C"/>
                </a:solidFill>
              </a:defRPr>
            </a:pPr>
            <a:r>
              <a:rPr sz="1350" b="0">
                <a:solidFill>
                  <a:srgbClr val="66717C"/>
                </a:solidFill>
              </a:rPr>
              <a:t>15 / 16</a:t>
            </a:r>
          </a:p>
        </p:txBody>
      </p:sp>
    </p:spTree>
    <p:extLst>
      <p:ext uri="{BB962C8B-B14F-4D97-AF65-F5344CB8AC3E}">
        <p14:creationId xmlns:p14="http://schemas.microsoft.com/office/powerpoint/2010/main" val="18550788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5EAA48-AD60-4556-AC94-AD29F698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6AE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edc1742cd24ce8"/>
          <a:stretch xmlns:a="http://schemas.openxmlformats.org/drawingml/2006/main"/>
        </p:blipFill>
        <p:spPr>
          <a:xfrm xmlns:a="http://schemas.openxmlformats.org/drawingml/2006/main">
            <a:off x="904875" y="1000125"/>
            <a:ext cx="2000250" cy="200025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b10188da4b40c0"/>
          <a:stretch xmlns:a="http://schemas.openxmlformats.org/drawingml/2006/main"/>
        </p:blipFill>
        <p:spPr>
          <a:xfrm xmlns:a="http://schemas.openxmlformats.org/drawingml/2006/main">
            <a:off x="3429000" y="1241519"/>
            <a:ext cx="6191250" cy="1212662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021828-E7A6-43EB-A75F-5C914C1D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14625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A56AE3"/>
                </a:solidFill>
              </a:defRPr>
            </a:pPr>
            <a:r>
              <a:rPr sz="2775" b="1">
                <a:solidFill>
                  <a:srgbClr val="A56AE3"/>
                </a:solidFill>
              </a:rPr>
              <a:t>Prioriza. El criterio, siempre humano.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986AD-63A4-476F-B62F-BE0509D0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33750"/>
            <a:ext cx="676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52B"/>
                </a:solidFill>
              </a:defRPr>
            </a:pPr>
            <a:r>
              <a:rPr sz="2175" b="1">
                <a:solidFill>
                  <a:srgbClr val="20252B"/>
                </a:solidFill>
              </a:rPr>
              <a:t>IA on-device que ordena la cola del cribado morfológico.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2538C2-FC1C-4163-9725-7A61F155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95750"/>
            <a:ext cx="30480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CFBEB-D0A0-453F-A0D4-1F2C1953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18147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52B"/>
                </a:solidFill>
              </a:defRPr>
            </a:pPr>
            <a:r>
              <a:rPr sz="1350" b="1">
                <a:solidFill>
                  <a:srgbClr val="20252B"/>
                </a:solidFill>
              </a:rPr>
              <a:t>citovision.mvp@gmail.com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719943-6FDE-43C7-B8E0-B386DCDD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28575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9FABCD-8B0E-49E3-949D-DA1A3B22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181475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A7F0"/>
                </a:solidFill>
              </a:defRPr>
            </a:pPr>
            <a:r>
              <a:rPr sz="1350" b="1">
                <a:solidFill>
                  <a:srgbClr val="2FA7F0"/>
                </a:solidFill>
              </a:rPr>
              <a:t>youtu.be/DEb_p7IrE5w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944cf27d514b4b"/>
          <a:stretch xmlns:a="http://schemas.openxmlformats.org/drawingml/2006/main"/>
        </p:blipFill>
        <p:spPr>
          <a:xfrm xmlns:a="http://schemas.openxmlformats.org/drawingml/2006/main">
            <a:off x="904875" y="5095875"/>
            <a:ext cx="1000125" cy="10001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EB9B87-DE26-4A81-A228-0F76C45A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81625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52B"/>
                </a:solidFill>
              </a:defRPr>
            </a:pPr>
            <a:r>
              <a:rPr sz="1725" b="1">
                <a:solidFill>
                  <a:srgbClr val="20252B"/>
                </a:solidFill>
              </a:rPr>
              <a:t>2026 · Lovelaced · Sergio Álvarez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F6083E-2CB5-4040-BECB-9C9CF3D9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953125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7C"/>
                </a:solidFill>
              </a:defRPr>
            </a:pPr>
            <a:r>
              <a:rPr sz="1500" b="0">
                <a:solidFill>
                  <a:srgbClr val="66717C"/>
                </a:solidFill>
              </a:rPr>
              <a:t>Prototipo académico y experimental. No es un producto sanitario ni sustituye el criterio de un profesional.</a:t>
            </a:r>
          </a:p>
        </p:txBody>
      </p:sp>
    </p:spTree>
    <p:extLst>
      <p:ext uri="{BB962C8B-B14F-4D97-AF65-F5344CB8AC3E}">
        <p14:creationId xmlns:p14="http://schemas.microsoft.com/office/powerpoint/2010/main" val="6581735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2026-07-25T15:27:02.6840000Z</dcterms:created>
  <dcterms:modified xsi:type="dcterms:W3CDTF">2026-07-25T15:27:02.6840000Z</dcterms:modified>
</coreProperties>
</file>